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5" r:id="rId2"/>
    <p:sldId id="266" r:id="rId3"/>
    <p:sldId id="256"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5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DA72C1-FFFD-4D01-A0A4-9EA2BE9F5F2E}" type="datetimeFigureOut">
              <a:rPr lang="en-IN" smtClean="0"/>
              <a:t>19-09-2026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F5F311-C882-434A-8F9D-6F73EA26846C}" type="slidenum">
              <a:rPr lang="en-IN" smtClean="0"/>
              <a:t>‹#›</a:t>
            </a:fld>
            <a:endParaRPr lang="en-IN"/>
          </a:p>
        </p:txBody>
      </p:sp>
    </p:spTree>
    <p:extLst>
      <p:ext uri="{BB962C8B-B14F-4D97-AF65-F5344CB8AC3E}">
        <p14:creationId xmlns:p14="http://schemas.microsoft.com/office/powerpoint/2010/main" val="3594615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F5F311-C882-434A-8F9D-6F73EA26846C}" type="slidenum">
              <a:rPr lang="en-IN" smtClean="0"/>
              <a:t>1</a:t>
            </a:fld>
            <a:endParaRPr lang="en-IN"/>
          </a:p>
        </p:txBody>
      </p:sp>
    </p:spTree>
    <p:extLst>
      <p:ext uri="{BB962C8B-B14F-4D97-AF65-F5344CB8AC3E}">
        <p14:creationId xmlns:p14="http://schemas.microsoft.com/office/powerpoint/2010/main" val="2100366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F5F311-C882-434A-8F9D-6F73EA26846C}" type="slidenum">
              <a:rPr lang="en-IN" smtClean="0"/>
              <a:t>3</a:t>
            </a:fld>
            <a:endParaRPr lang="en-IN"/>
          </a:p>
        </p:txBody>
      </p:sp>
    </p:spTree>
    <p:extLst>
      <p:ext uri="{BB962C8B-B14F-4D97-AF65-F5344CB8AC3E}">
        <p14:creationId xmlns:p14="http://schemas.microsoft.com/office/powerpoint/2010/main" val="336820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C8846-CC8B-FD2C-6EA3-8FB42A8CB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83970-A3A3-4BBD-B301-35F6169A303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948D3BC-F3A3-FBE6-3658-F10B3DE6A4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ED76EC-6923-8719-6656-505A11ED7A27}"/>
              </a:ext>
            </a:extLst>
          </p:cNvPr>
          <p:cNvSpPr>
            <a:spLocks noGrp="1"/>
          </p:cNvSpPr>
          <p:nvPr>
            <p:ph type="sldNum" sz="quarter" idx="5"/>
          </p:nvPr>
        </p:nvSpPr>
        <p:spPr/>
        <p:txBody>
          <a:bodyPr/>
          <a:lstStyle/>
          <a:p>
            <a:fld id="{0BF5F311-C882-434A-8F9D-6F73EA26846C}" type="slidenum">
              <a:rPr lang="en-IN" smtClean="0"/>
              <a:t>4</a:t>
            </a:fld>
            <a:endParaRPr lang="en-IN"/>
          </a:p>
        </p:txBody>
      </p:sp>
    </p:spTree>
    <p:extLst>
      <p:ext uri="{BB962C8B-B14F-4D97-AF65-F5344CB8AC3E}">
        <p14:creationId xmlns:p14="http://schemas.microsoft.com/office/powerpoint/2010/main" val="3471266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1B9DF-3B27-96DB-C983-3735CD05F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522D5-7739-5B7A-36F9-6070C7234A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7117E22-8A6A-1DA9-DB6E-B35CBF76D4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C7027C-4B1D-6196-E1C4-5109A7941B2B}"/>
              </a:ext>
            </a:extLst>
          </p:cNvPr>
          <p:cNvSpPr>
            <a:spLocks noGrp="1"/>
          </p:cNvSpPr>
          <p:nvPr>
            <p:ph type="sldNum" sz="quarter" idx="5"/>
          </p:nvPr>
        </p:nvSpPr>
        <p:spPr/>
        <p:txBody>
          <a:bodyPr/>
          <a:lstStyle/>
          <a:p>
            <a:fld id="{0BF5F311-C882-434A-8F9D-6F73EA26846C}" type="slidenum">
              <a:rPr lang="en-IN" smtClean="0"/>
              <a:t>5</a:t>
            </a:fld>
            <a:endParaRPr lang="en-IN"/>
          </a:p>
        </p:txBody>
      </p:sp>
    </p:spTree>
    <p:extLst>
      <p:ext uri="{BB962C8B-B14F-4D97-AF65-F5344CB8AC3E}">
        <p14:creationId xmlns:p14="http://schemas.microsoft.com/office/powerpoint/2010/main" val="2929083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B5DE8-5D3D-A87C-D8DD-C16D3FD03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83B41-E134-B96E-B224-E36F79F50E2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7EC5725-92A7-C6C5-7089-76803F8DC6D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3B6012-0B46-21FF-3BE2-4946A03BE8D8}"/>
              </a:ext>
            </a:extLst>
          </p:cNvPr>
          <p:cNvSpPr>
            <a:spLocks noGrp="1"/>
          </p:cNvSpPr>
          <p:nvPr>
            <p:ph type="sldNum" sz="quarter" idx="5"/>
          </p:nvPr>
        </p:nvSpPr>
        <p:spPr/>
        <p:txBody>
          <a:bodyPr/>
          <a:lstStyle/>
          <a:p>
            <a:fld id="{0BF5F311-C882-434A-8F9D-6F73EA26846C}" type="slidenum">
              <a:rPr lang="en-IN" smtClean="0"/>
              <a:t>6</a:t>
            </a:fld>
            <a:endParaRPr lang="en-IN"/>
          </a:p>
        </p:txBody>
      </p:sp>
    </p:spTree>
    <p:extLst>
      <p:ext uri="{BB962C8B-B14F-4D97-AF65-F5344CB8AC3E}">
        <p14:creationId xmlns:p14="http://schemas.microsoft.com/office/powerpoint/2010/main" val="2319494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5A569-B1D5-0362-002A-6E3942847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3FDA3-4F2C-70F9-7186-4E23EC484F4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7AD9C18-B04A-EF12-75E8-0E6D31984C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2F147D-D215-BEF0-F3E2-383BD4218EC9}"/>
              </a:ext>
            </a:extLst>
          </p:cNvPr>
          <p:cNvSpPr>
            <a:spLocks noGrp="1"/>
          </p:cNvSpPr>
          <p:nvPr>
            <p:ph type="sldNum" sz="quarter" idx="5"/>
          </p:nvPr>
        </p:nvSpPr>
        <p:spPr/>
        <p:txBody>
          <a:bodyPr/>
          <a:lstStyle/>
          <a:p>
            <a:fld id="{0BF5F311-C882-434A-8F9D-6F73EA26846C}" type="slidenum">
              <a:rPr lang="en-IN" smtClean="0"/>
              <a:t>7</a:t>
            </a:fld>
            <a:endParaRPr lang="en-IN"/>
          </a:p>
        </p:txBody>
      </p:sp>
    </p:spTree>
    <p:extLst>
      <p:ext uri="{BB962C8B-B14F-4D97-AF65-F5344CB8AC3E}">
        <p14:creationId xmlns:p14="http://schemas.microsoft.com/office/powerpoint/2010/main" val="1667173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9F2E-FAFA-84A3-5FFA-666D16D4A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59605-9089-9F06-4A48-5DC3086FA0C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4D703BB-1397-607F-42F5-2940065416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846728-65A7-862E-39FF-45DBAAAEA256}"/>
              </a:ext>
            </a:extLst>
          </p:cNvPr>
          <p:cNvSpPr>
            <a:spLocks noGrp="1"/>
          </p:cNvSpPr>
          <p:nvPr>
            <p:ph type="sldNum" sz="quarter" idx="5"/>
          </p:nvPr>
        </p:nvSpPr>
        <p:spPr/>
        <p:txBody>
          <a:bodyPr/>
          <a:lstStyle/>
          <a:p>
            <a:fld id="{0BF5F311-C882-434A-8F9D-6F73EA26846C}" type="slidenum">
              <a:rPr lang="en-IN" smtClean="0"/>
              <a:t>8</a:t>
            </a:fld>
            <a:endParaRPr lang="en-IN"/>
          </a:p>
        </p:txBody>
      </p:sp>
    </p:spTree>
    <p:extLst>
      <p:ext uri="{BB962C8B-B14F-4D97-AF65-F5344CB8AC3E}">
        <p14:creationId xmlns:p14="http://schemas.microsoft.com/office/powerpoint/2010/main" val="1079766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BE3C2-3C51-864F-A8CB-D727EDD43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315BD-7530-DD75-A87D-7570F11456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12D1BD4-ADD6-1231-B9DB-B2FD8C8CEC6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F83A46-207B-FC8A-BA26-B054A33A71B3}"/>
              </a:ext>
            </a:extLst>
          </p:cNvPr>
          <p:cNvSpPr>
            <a:spLocks noGrp="1"/>
          </p:cNvSpPr>
          <p:nvPr>
            <p:ph type="sldNum" sz="quarter" idx="5"/>
          </p:nvPr>
        </p:nvSpPr>
        <p:spPr/>
        <p:txBody>
          <a:bodyPr/>
          <a:lstStyle/>
          <a:p>
            <a:fld id="{0BF5F311-C882-434A-8F9D-6F73EA26846C}" type="slidenum">
              <a:rPr lang="en-IN" smtClean="0"/>
              <a:t>9</a:t>
            </a:fld>
            <a:endParaRPr lang="en-IN"/>
          </a:p>
        </p:txBody>
      </p:sp>
    </p:spTree>
    <p:extLst>
      <p:ext uri="{BB962C8B-B14F-4D97-AF65-F5344CB8AC3E}">
        <p14:creationId xmlns:p14="http://schemas.microsoft.com/office/powerpoint/2010/main" val="3821438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1EEE8-A59E-5F6A-BC07-9F998E446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889F1-9693-FDB7-B21D-9977D4971BC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DB4B10A-F73B-C794-DF3B-9922FAE975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09D1E30-817C-2341-FB64-EC49647CD9AF}"/>
              </a:ext>
            </a:extLst>
          </p:cNvPr>
          <p:cNvSpPr>
            <a:spLocks noGrp="1"/>
          </p:cNvSpPr>
          <p:nvPr>
            <p:ph type="sldNum" sz="quarter" idx="5"/>
          </p:nvPr>
        </p:nvSpPr>
        <p:spPr/>
        <p:txBody>
          <a:bodyPr/>
          <a:lstStyle/>
          <a:p>
            <a:fld id="{0BF5F311-C882-434A-8F9D-6F73EA26846C}" type="slidenum">
              <a:rPr lang="en-IN" smtClean="0"/>
              <a:t>10</a:t>
            </a:fld>
            <a:endParaRPr lang="en-IN"/>
          </a:p>
        </p:txBody>
      </p:sp>
    </p:spTree>
    <p:extLst>
      <p:ext uri="{BB962C8B-B14F-4D97-AF65-F5344CB8AC3E}">
        <p14:creationId xmlns:p14="http://schemas.microsoft.com/office/powerpoint/2010/main" val="3131213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52F50-023B-2778-C0A3-822467436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7F324-CBCF-26C0-AC57-90CC5525B55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A7F4003-8C96-093D-BC54-E4FA292598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6511D07-4D4E-A386-BE10-137FBD615E72}"/>
              </a:ext>
            </a:extLst>
          </p:cNvPr>
          <p:cNvSpPr>
            <a:spLocks noGrp="1"/>
          </p:cNvSpPr>
          <p:nvPr>
            <p:ph type="sldNum" sz="quarter" idx="5"/>
          </p:nvPr>
        </p:nvSpPr>
        <p:spPr/>
        <p:txBody>
          <a:bodyPr/>
          <a:lstStyle/>
          <a:p>
            <a:fld id="{0BF5F311-C882-434A-8F9D-6F73EA26846C}" type="slidenum">
              <a:rPr lang="en-IN" smtClean="0"/>
              <a:t>11</a:t>
            </a:fld>
            <a:endParaRPr lang="en-IN"/>
          </a:p>
        </p:txBody>
      </p:sp>
    </p:spTree>
    <p:extLst>
      <p:ext uri="{BB962C8B-B14F-4D97-AF65-F5344CB8AC3E}">
        <p14:creationId xmlns:p14="http://schemas.microsoft.com/office/powerpoint/2010/main" val="852424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5038-B768-2CEB-3F7B-D7240BC0C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689DF-9969-45BD-E92F-6505FBE9CA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0E81655-D627-918D-890C-0AB1D04B0AE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B8B2EC3-EFDC-1DE2-B598-091D00E83026}"/>
              </a:ext>
            </a:extLst>
          </p:cNvPr>
          <p:cNvSpPr>
            <a:spLocks noGrp="1"/>
          </p:cNvSpPr>
          <p:nvPr>
            <p:ph type="sldNum" sz="quarter" idx="5"/>
          </p:nvPr>
        </p:nvSpPr>
        <p:spPr/>
        <p:txBody>
          <a:bodyPr/>
          <a:lstStyle/>
          <a:p>
            <a:fld id="{0BF5F311-C882-434A-8F9D-6F73EA26846C}" type="slidenum">
              <a:rPr lang="en-IN" smtClean="0"/>
              <a:t>12</a:t>
            </a:fld>
            <a:endParaRPr lang="en-IN"/>
          </a:p>
        </p:txBody>
      </p:sp>
    </p:spTree>
    <p:extLst>
      <p:ext uri="{BB962C8B-B14F-4D97-AF65-F5344CB8AC3E}">
        <p14:creationId xmlns:p14="http://schemas.microsoft.com/office/powerpoint/2010/main" val="59535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565E2-545C-0B87-9BE8-78308D060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05737-F002-FB31-DA6C-A8087C44CCB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DE30B9D-D7B5-73B7-62C0-39D7552EA1B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742E2F-9C43-0145-01C9-05774E49E307}"/>
              </a:ext>
            </a:extLst>
          </p:cNvPr>
          <p:cNvSpPr>
            <a:spLocks noGrp="1"/>
          </p:cNvSpPr>
          <p:nvPr>
            <p:ph type="sldNum" sz="quarter" idx="5"/>
          </p:nvPr>
        </p:nvSpPr>
        <p:spPr/>
        <p:txBody>
          <a:bodyPr/>
          <a:lstStyle/>
          <a:p>
            <a:fld id="{0BF5F311-C882-434A-8F9D-6F73EA26846C}" type="slidenum">
              <a:rPr lang="en-IN" smtClean="0"/>
              <a:t>13</a:t>
            </a:fld>
            <a:endParaRPr lang="en-IN"/>
          </a:p>
        </p:txBody>
      </p:sp>
    </p:spTree>
    <p:extLst>
      <p:ext uri="{BB962C8B-B14F-4D97-AF65-F5344CB8AC3E}">
        <p14:creationId xmlns:p14="http://schemas.microsoft.com/office/powerpoint/2010/main" val="4195166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66A9-1756-536E-CD62-24008AB28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2DCA0-8D8D-E682-2604-E810B99CD37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D675FA-A138-3BC0-DD77-6D6C7601EE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8A72CB-A03E-23AB-DFC4-1164B0CDEE22}"/>
              </a:ext>
            </a:extLst>
          </p:cNvPr>
          <p:cNvSpPr>
            <a:spLocks noGrp="1"/>
          </p:cNvSpPr>
          <p:nvPr>
            <p:ph type="sldNum" sz="quarter" idx="5"/>
          </p:nvPr>
        </p:nvSpPr>
        <p:spPr/>
        <p:txBody>
          <a:bodyPr/>
          <a:lstStyle/>
          <a:p>
            <a:fld id="{0BF5F311-C882-434A-8F9D-6F73EA26846C}" type="slidenum">
              <a:rPr lang="en-IN" smtClean="0"/>
              <a:t>14</a:t>
            </a:fld>
            <a:endParaRPr lang="en-IN"/>
          </a:p>
        </p:txBody>
      </p:sp>
    </p:spTree>
    <p:extLst>
      <p:ext uri="{BB962C8B-B14F-4D97-AF65-F5344CB8AC3E}">
        <p14:creationId xmlns:p14="http://schemas.microsoft.com/office/powerpoint/2010/main" val="2738817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5828-B8A4-B9ED-6D57-980E1D79C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13AE7-2408-2E24-D64A-86FED9B1F28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5FCF5E8-4D5E-F8C2-271A-8F3C38EB4A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A83224-5ACE-8FBF-1B32-2F256DB50EAB}"/>
              </a:ext>
            </a:extLst>
          </p:cNvPr>
          <p:cNvSpPr>
            <a:spLocks noGrp="1"/>
          </p:cNvSpPr>
          <p:nvPr>
            <p:ph type="sldNum" sz="quarter" idx="5"/>
          </p:nvPr>
        </p:nvSpPr>
        <p:spPr/>
        <p:txBody>
          <a:bodyPr/>
          <a:lstStyle/>
          <a:p>
            <a:fld id="{0BF5F311-C882-434A-8F9D-6F73EA26846C}" type="slidenum">
              <a:rPr lang="en-IN" smtClean="0"/>
              <a:t>15</a:t>
            </a:fld>
            <a:endParaRPr lang="en-IN"/>
          </a:p>
        </p:txBody>
      </p:sp>
    </p:spTree>
    <p:extLst>
      <p:ext uri="{BB962C8B-B14F-4D97-AF65-F5344CB8AC3E}">
        <p14:creationId xmlns:p14="http://schemas.microsoft.com/office/powerpoint/2010/main" val="2927800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9AE03-C738-AF86-571E-D22FAF44C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12383-F204-B9B2-B13E-AEB0AECAF8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E3FCBF6-532C-FD26-11AF-6A2ED6D303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AA91F37-D52A-D759-CE1B-677EAAED1172}"/>
              </a:ext>
            </a:extLst>
          </p:cNvPr>
          <p:cNvSpPr>
            <a:spLocks noGrp="1"/>
          </p:cNvSpPr>
          <p:nvPr>
            <p:ph type="sldNum" sz="quarter" idx="5"/>
          </p:nvPr>
        </p:nvSpPr>
        <p:spPr/>
        <p:txBody>
          <a:bodyPr/>
          <a:lstStyle/>
          <a:p>
            <a:fld id="{0BF5F311-C882-434A-8F9D-6F73EA26846C}" type="slidenum">
              <a:rPr lang="en-IN" smtClean="0"/>
              <a:t>16</a:t>
            </a:fld>
            <a:endParaRPr lang="en-IN"/>
          </a:p>
        </p:txBody>
      </p:sp>
    </p:spTree>
    <p:extLst>
      <p:ext uri="{BB962C8B-B14F-4D97-AF65-F5344CB8AC3E}">
        <p14:creationId xmlns:p14="http://schemas.microsoft.com/office/powerpoint/2010/main" val="972778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CD00-4272-2E86-D23A-24584FC8C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90376-0E62-CCC1-C053-FC0489E60ED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74388B1-38D2-56C0-CAAB-5E89BB0F0E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54F428-DFB7-AF33-E57A-DEB382AFDA32}"/>
              </a:ext>
            </a:extLst>
          </p:cNvPr>
          <p:cNvSpPr>
            <a:spLocks noGrp="1"/>
          </p:cNvSpPr>
          <p:nvPr>
            <p:ph type="sldNum" sz="quarter" idx="5"/>
          </p:nvPr>
        </p:nvSpPr>
        <p:spPr/>
        <p:txBody>
          <a:bodyPr/>
          <a:lstStyle/>
          <a:p>
            <a:fld id="{0BF5F311-C882-434A-8F9D-6F73EA26846C}" type="slidenum">
              <a:rPr lang="en-IN" smtClean="0"/>
              <a:t>17</a:t>
            </a:fld>
            <a:endParaRPr lang="en-IN"/>
          </a:p>
        </p:txBody>
      </p:sp>
    </p:spTree>
    <p:extLst>
      <p:ext uri="{BB962C8B-B14F-4D97-AF65-F5344CB8AC3E}">
        <p14:creationId xmlns:p14="http://schemas.microsoft.com/office/powerpoint/2010/main" val="477845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FB56-F54D-6540-1FCC-97F1C2404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4A5FD-9789-6E8A-33C4-AAB7783748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08281B-356B-1D69-8FB2-416FB28EC4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0C8C6B1-D680-44D6-27D8-5561E0F7C448}"/>
              </a:ext>
            </a:extLst>
          </p:cNvPr>
          <p:cNvSpPr>
            <a:spLocks noGrp="1"/>
          </p:cNvSpPr>
          <p:nvPr>
            <p:ph type="sldNum" sz="quarter" idx="5"/>
          </p:nvPr>
        </p:nvSpPr>
        <p:spPr/>
        <p:txBody>
          <a:bodyPr/>
          <a:lstStyle/>
          <a:p>
            <a:fld id="{0BF5F311-C882-434A-8F9D-6F73EA26846C}" type="slidenum">
              <a:rPr lang="en-IN" smtClean="0"/>
              <a:t>18</a:t>
            </a:fld>
            <a:endParaRPr lang="en-IN"/>
          </a:p>
        </p:txBody>
      </p:sp>
    </p:spTree>
    <p:extLst>
      <p:ext uri="{BB962C8B-B14F-4D97-AF65-F5344CB8AC3E}">
        <p14:creationId xmlns:p14="http://schemas.microsoft.com/office/powerpoint/2010/main" val="2333004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F00F6-87A5-AC64-605E-CF3728775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EBC9D-329D-7BFE-F019-267AD68D718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2A51238-AB48-2678-E660-36BC4A3730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7CB3A2-271B-F233-99D7-F78D426DB1BE}"/>
              </a:ext>
            </a:extLst>
          </p:cNvPr>
          <p:cNvSpPr>
            <a:spLocks noGrp="1"/>
          </p:cNvSpPr>
          <p:nvPr>
            <p:ph type="sldNum" sz="quarter" idx="5"/>
          </p:nvPr>
        </p:nvSpPr>
        <p:spPr/>
        <p:txBody>
          <a:bodyPr/>
          <a:lstStyle/>
          <a:p>
            <a:fld id="{0BF5F311-C882-434A-8F9D-6F73EA26846C}" type="slidenum">
              <a:rPr lang="en-IN" smtClean="0"/>
              <a:t>19</a:t>
            </a:fld>
            <a:endParaRPr lang="en-IN"/>
          </a:p>
        </p:txBody>
      </p:sp>
    </p:spTree>
    <p:extLst>
      <p:ext uri="{BB962C8B-B14F-4D97-AF65-F5344CB8AC3E}">
        <p14:creationId xmlns:p14="http://schemas.microsoft.com/office/powerpoint/2010/main" val="567277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B340D-1FEE-2184-C930-D62695C5B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EF997-FB59-AAFB-3CC2-4A7FD55B63F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C3085FA-FC73-F8D2-2359-8845688B6E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DDDCAF-4593-0111-D445-F9ACACE90379}"/>
              </a:ext>
            </a:extLst>
          </p:cNvPr>
          <p:cNvSpPr>
            <a:spLocks noGrp="1"/>
          </p:cNvSpPr>
          <p:nvPr>
            <p:ph type="sldNum" sz="quarter" idx="5"/>
          </p:nvPr>
        </p:nvSpPr>
        <p:spPr/>
        <p:txBody>
          <a:bodyPr/>
          <a:lstStyle/>
          <a:p>
            <a:fld id="{0BF5F311-C882-434A-8F9D-6F73EA26846C}" type="slidenum">
              <a:rPr lang="en-IN" smtClean="0"/>
              <a:t>20</a:t>
            </a:fld>
            <a:endParaRPr lang="en-IN"/>
          </a:p>
        </p:txBody>
      </p:sp>
    </p:spTree>
    <p:extLst>
      <p:ext uri="{BB962C8B-B14F-4D97-AF65-F5344CB8AC3E}">
        <p14:creationId xmlns:p14="http://schemas.microsoft.com/office/powerpoint/2010/main" val="2077776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F3E18-F075-1C0D-E4CE-3883F007F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5231A-BD9B-AC8D-9970-B202329D8C8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81D2451-75ED-B10C-4CFC-B4D93BC2927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5D2D58-7EF9-DD8B-0E87-BBC59B24A6C8}"/>
              </a:ext>
            </a:extLst>
          </p:cNvPr>
          <p:cNvSpPr>
            <a:spLocks noGrp="1"/>
          </p:cNvSpPr>
          <p:nvPr>
            <p:ph type="sldNum" sz="quarter" idx="5"/>
          </p:nvPr>
        </p:nvSpPr>
        <p:spPr/>
        <p:txBody>
          <a:bodyPr/>
          <a:lstStyle/>
          <a:p>
            <a:fld id="{0BF5F311-C882-434A-8F9D-6F73EA26846C}" type="slidenum">
              <a:rPr lang="en-IN" smtClean="0"/>
              <a:t>21</a:t>
            </a:fld>
            <a:endParaRPr lang="en-IN"/>
          </a:p>
        </p:txBody>
      </p:sp>
    </p:spTree>
    <p:extLst>
      <p:ext uri="{BB962C8B-B14F-4D97-AF65-F5344CB8AC3E}">
        <p14:creationId xmlns:p14="http://schemas.microsoft.com/office/powerpoint/2010/main" val="4075910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AAFAA-5957-05E3-F66A-55465540B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04621-6570-57E1-DB6F-56BBCED0200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FACABE1-4BF5-EDFA-EA4A-2B9610337B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27B9C09-5DB6-BA42-2215-47E8EB1F63B0}"/>
              </a:ext>
            </a:extLst>
          </p:cNvPr>
          <p:cNvSpPr>
            <a:spLocks noGrp="1"/>
          </p:cNvSpPr>
          <p:nvPr>
            <p:ph type="sldNum" sz="quarter" idx="5"/>
          </p:nvPr>
        </p:nvSpPr>
        <p:spPr/>
        <p:txBody>
          <a:bodyPr/>
          <a:lstStyle/>
          <a:p>
            <a:fld id="{0BF5F311-C882-434A-8F9D-6F73EA26846C}" type="slidenum">
              <a:rPr lang="en-IN" smtClean="0"/>
              <a:t>22</a:t>
            </a:fld>
            <a:endParaRPr lang="en-IN"/>
          </a:p>
        </p:txBody>
      </p:sp>
    </p:spTree>
    <p:extLst>
      <p:ext uri="{BB962C8B-B14F-4D97-AF65-F5344CB8AC3E}">
        <p14:creationId xmlns:p14="http://schemas.microsoft.com/office/powerpoint/2010/main" val="1135931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64AE-CE22-4E13-81B9-A82213866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35550-FBF1-11A6-4214-0FBFED256DB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07DBB89-9F1A-F8B9-8CEC-7C28040597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EC8C1E-3D5E-92C6-B21A-7E9F56022FB3}"/>
              </a:ext>
            </a:extLst>
          </p:cNvPr>
          <p:cNvSpPr>
            <a:spLocks noGrp="1"/>
          </p:cNvSpPr>
          <p:nvPr>
            <p:ph type="sldNum" sz="quarter" idx="5"/>
          </p:nvPr>
        </p:nvSpPr>
        <p:spPr/>
        <p:txBody>
          <a:bodyPr/>
          <a:lstStyle/>
          <a:p>
            <a:fld id="{0BF5F311-C882-434A-8F9D-6F73EA26846C}" type="slidenum">
              <a:rPr lang="en-IN" smtClean="0"/>
              <a:t>23</a:t>
            </a:fld>
            <a:endParaRPr lang="en-IN"/>
          </a:p>
        </p:txBody>
      </p:sp>
    </p:spTree>
    <p:extLst>
      <p:ext uri="{BB962C8B-B14F-4D97-AF65-F5344CB8AC3E}">
        <p14:creationId xmlns:p14="http://schemas.microsoft.com/office/powerpoint/2010/main" val="3271137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DA8D8-23B2-ACA8-F7A2-62008C745A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24F3F14-C6B3-CD66-AFF0-674EEFA6F9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08A043-A31F-0BA6-9E08-88F053B2398B}"/>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5" name="Footer Placeholder 4">
            <a:extLst>
              <a:ext uri="{FF2B5EF4-FFF2-40B4-BE49-F238E27FC236}">
                <a16:creationId xmlns:a16="http://schemas.microsoft.com/office/drawing/2014/main" id="{C3EF4F77-E827-3323-02B9-4CDBB6CE4F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2DF529-9092-C5E1-7192-4F6861118A09}"/>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41573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4FAA-1AF5-8603-BE84-66EE966012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3F1D30-EF7E-454A-4FAC-A5D4CC848E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095448-D4EC-053A-5BFA-E970944A811B}"/>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5" name="Footer Placeholder 4">
            <a:extLst>
              <a:ext uri="{FF2B5EF4-FFF2-40B4-BE49-F238E27FC236}">
                <a16:creationId xmlns:a16="http://schemas.microsoft.com/office/drawing/2014/main" id="{2672DA2C-4BAF-19FD-1A5F-47E71EA910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CAE67B-CBF5-0220-8720-16A4A9A416B3}"/>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956605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2F90E-C6B9-3F58-7516-2DE768225E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A2E09B-0858-B7FF-D463-F0B346FED3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52E3F1-CC6C-C1CD-1DC3-512D6D96E8AA}"/>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5" name="Footer Placeholder 4">
            <a:extLst>
              <a:ext uri="{FF2B5EF4-FFF2-40B4-BE49-F238E27FC236}">
                <a16:creationId xmlns:a16="http://schemas.microsoft.com/office/drawing/2014/main" id="{718C0C1A-E2B4-4203-1ECA-C46DC304AB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E34B4-0AF2-791F-0693-B4D155E63A8B}"/>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3618058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F9F24-A049-6F97-AC06-335510C103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9478AB-97E3-5E78-5F84-E7E2C08BD5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162CFA-6500-3804-BA5A-84325CEC4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B03263-6682-616D-AACF-76C9B3A47733}"/>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6" name="Footer Placeholder 5">
            <a:extLst>
              <a:ext uri="{FF2B5EF4-FFF2-40B4-BE49-F238E27FC236}">
                <a16:creationId xmlns:a16="http://schemas.microsoft.com/office/drawing/2014/main" id="{EDB8D0C7-C68A-5C31-BDD6-A746E81DD4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2F006D-4D02-7A03-5EEE-00B762A84658}"/>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985906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A9ECC-5954-0519-96CC-4CAE85E750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406747-68D0-A2DE-1855-6EF0F0AE8A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1D7870-D070-CD4F-872B-D3586C5ED9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518C7E-80E8-FC41-B6E4-25B8C529F4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041975-5C64-1EE6-AEE5-8CB941D2C2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6B5ED2-02D3-85BE-DDA1-ACC8B08D9E52}"/>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8" name="Footer Placeholder 7">
            <a:extLst>
              <a:ext uri="{FF2B5EF4-FFF2-40B4-BE49-F238E27FC236}">
                <a16:creationId xmlns:a16="http://schemas.microsoft.com/office/drawing/2014/main" id="{44028FCB-F6DB-3186-6ED3-B5B41F6F7A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DF19902-0F91-210F-0F1C-A3618E6C3AF3}"/>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3478855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4B586-190B-FDE6-B930-6C91BDE113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BECA63-BFBD-6336-CF95-7B385AE1529C}"/>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4" name="Footer Placeholder 3">
            <a:extLst>
              <a:ext uri="{FF2B5EF4-FFF2-40B4-BE49-F238E27FC236}">
                <a16:creationId xmlns:a16="http://schemas.microsoft.com/office/drawing/2014/main" id="{AA066528-86D8-DA82-43A5-A8DC7A676D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629187-C561-0CAA-8094-B9F2BF31E5E2}"/>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287739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927878-1B90-78ED-ACB6-DA9EA7988F68}"/>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3" name="Footer Placeholder 2">
            <a:extLst>
              <a:ext uri="{FF2B5EF4-FFF2-40B4-BE49-F238E27FC236}">
                <a16:creationId xmlns:a16="http://schemas.microsoft.com/office/drawing/2014/main" id="{2D856CBB-FA45-2A86-912B-D40C4277DC0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FB5CE1-DEAC-803D-B435-10299CB53EF6}"/>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935119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897EB-173F-1131-F918-16E21A9396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3B8A16-AA14-4212-1E3B-8EC43697A9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036390-F46B-479A-A571-143417965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4CFFDD-AAC1-1789-4776-D3428B6F7503}"/>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6" name="Footer Placeholder 5">
            <a:extLst>
              <a:ext uri="{FF2B5EF4-FFF2-40B4-BE49-F238E27FC236}">
                <a16:creationId xmlns:a16="http://schemas.microsoft.com/office/drawing/2014/main" id="{FBACC7BF-E3B9-E1CA-93EE-9D772B9952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3B9355-CB12-4464-7B63-E924004ED7A2}"/>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4171240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68AD-738D-FB52-881C-254CE707A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81C2C4-55A3-6354-B8EC-898F71B274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5EA25F-83B1-3096-5F03-895C3CB42B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ED7344-0FF2-A4E0-70E9-0CAB8BC78E2D}"/>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6" name="Footer Placeholder 5">
            <a:extLst>
              <a:ext uri="{FF2B5EF4-FFF2-40B4-BE49-F238E27FC236}">
                <a16:creationId xmlns:a16="http://schemas.microsoft.com/office/drawing/2014/main" id="{15C08FCB-035B-10FF-E5BB-FEB655E39E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2F4E38-AE38-4ED9-AAEB-FFDFB950768E}"/>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404684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9AAB1-6E0D-D29C-2538-A8D7D3C203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C03CDC-FBDF-7F5A-1F67-2AC9ADCBEC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F15073-1C48-78F5-42F3-0A3961F4A15D}"/>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5" name="Footer Placeholder 4">
            <a:extLst>
              <a:ext uri="{FF2B5EF4-FFF2-40B4-BE49-F238E27FC236}">
                <a16:creationId xmlns:a16="http://schemas.microsoft.com/office/drawing/2014/main" id="{E4D70B9B-240E-6FE8-F986-925DA1EACA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8D4A29-F792-A8CF-ED9F-5FEF7364DABF}"/>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57977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53F808-C015-53F3-FDFF-3946F5C5A1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EFBAB8-418D-8265-737A-F3CDFB92DF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105496-D68C-E09B-44BA-03C97771356E}"/>
              </a:ext>
            </a:extLst>
          </p:cNvPr>
          <p:cNvSpPr>
            <a:spLocks noGrp="1"/>
          </p:cNvSpPr>
          <p:nvPr>
            <p:ph type="dt" sz="half" idx="10"/>
          </p:nvPr>
        </p:nvSpPr>
        <p:spPr/>
        <p:txBody>
          <a:bodyPr/>
          <a:lstStyle/>
          <a:p>
            <a:fld id="{30AEF507-30AF-4ECB-AB61-009DFE1B8B5E}" type="datetimeFigureOut">
              <a:rPr lang="en-IN" smtClean="0"/>
              <a:t>19-09-2026</a:t>
            </a:fld>
            <a:endParaRPr lang="en-IN"/>
          </a:p>
        </p:txBody>
      </p:sp>
      <p:sp>
        <p:nvSpPr>
          <p:cNvPr id="5" name="Footer Placeholder 4">
            <a:extLst>
              <a:ext uri="{FF2B5EF4-FFF2-40B4-BE49-F238E27FC236}">
                <a16:creationId xmlns:a16="http://schemas.microsoft.com/office/drawing/2014/main" id="{5E466837-A94E-4A3E-FFDC-64413ED418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D2AC13-36B1-B82D-902A-F2B13AD5BE1C}"/>
              </a:ext>
            </a:extLst>
          </p:cNvPr>
          <p:cNvSpPr>
            <a:spLocks noGrp="1"/>
          </p:cNvSpPr>
          <p:nvPr>
            <p:ph type="sldNum" sz="quarter" idx="12"/>
          </p:nvPr>
        </p:nvSpPr>
        <p:spPr/>
        <p:txBody>
          <a:bodyPr/>
          <a:lstStyle/>
          <a:p>
            <a:fld id="{D3AEBC2A-0802-4E88-9BBD-EBA6C0F49E3E}" type="slidenum">
              <a:rPr lang="en-IN" smtClean="0"/>
              <a:t>‹#›</a:t>
            </a:fld>
            <a:endParaRPr lang="en-IN"/>
          </a:p>
        </p:txBody>
      </p:sp>
    </p:spTree>
    <p:extLst>
      <p:ext uri="{BB962C8B-B14F-4D97-AF65-F5344CB8AC3E}">
        <p14:creationId xmlns:p14="http://schemas.microsoft.com/office/powerpoint/2010/main" val="2786827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0197E8-467B-7765-0AEC-ACDD7AEA8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E09FA4-FB19-7428-A676-FFB3097E9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3A128B-FC64-F8DE-3FF4-D48BD5F229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AEF507-30AF-4ECB-AB61-009DFE1B8B5E}" type="datetimeFigureOut">
              <a:rPr lang="en-IN" smtClean="0"/>
              <a:t>19-09-2026</a:t>
            </a:fld>
            <a:endParaRPr lang="en-IN"/>
          </a:p>
        </p:txBody>
      </p:sp>
      <p:sp>
        <p:nvSpPr>
          <p:cNvPr id="5" name="Footer Placeholder 4">
            <a:extLst>
              <a:ext uri="{FF2B5EF4-FFF2-40B4-BE49-F238E27FC236}">
                <a16:creationId xmlns:a16="http://schemas.microsoft.com/office/drawing/2014/main" id="{2736507C-9B55-FC72-E5D4-F27C53EF6B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C0ACB7-6C46-60EC-E85C-F6606C1373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EBC2A-0802-4E88-9BBD-EBA6C0F49E3E}" type="slidenum">
              <a:rPr lang="en-IN" smtClean="0"/>
              <a:t>‹#›</a:t>
            </a:fld>
            <a:endParaRPr lang="en-IN"/>
          </a:p>
        </p:txBody>
      </p:sp>
    </p:spTree>
    <p:extLst>
      <p:ext uri="{BB962C8B-B14F-4D97-AF65-F5344CB8AC3E}">
        <p14:creationId xmlns:p14="http://schemas.microsoft.com/office/powerpoint/2010/main" val="368181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sv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gif"/></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gif"/></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gif"/><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sv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gif"/></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55D9-941E-9533-5759-E11709417B5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A567FC89-77B9-5DB2-FF02-49DAC0FD962D}"/>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108699E6-8FF7-1B8E-F10E-5072736C0D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B8C07B82-EE1C-A284-D127-0F45B735D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pic>
        <p:nvPicPr>
          <p:cNvPr id="3" name="Picture 2">
            <a:extLst>
              <a:ext uri="{FF2B5EF4-FFF2-40B4-BE49-F238E27FC236}">
                <a16:creationId xmlns:a16="http://schemas.microsoft.com/office/drawing/2014/main" id="{CF35571A-8A25-ED5B-B1F1-FC8355734B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82946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E582-660E-ECC7-639F-D5042FED275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91256519-599F-9367-43A0-8B1228121F08}"/>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E972623C-B3A9-82AC-0766-8F0BEFE3A3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B4ACF155-FEB1-40AB-C45F-470DB8170F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43550" y="0"/>
              <a:ext cx="6858000" cy="6858000"/>
            </a:xfrm>
            <a:prstGeom prst="rect">
              <a:avLst/>
            </a:prstGeom>
          </p:spPr>
        </p:pic>
      </p:grpSp>
      <p:pic>
        <p:nvPicPr>
          <p:cNvPr id="4" name="Picture 3">
            <a:extLst>
              <a:ext uri="{FF2B5EF4-FFF2-40B4-BE49-F238E27FC236}">
                <a16:creationId xmlns:a16="http://schemas.microsoft.com/office/drawing/2014/main" id="{A6A03109-AA64-46F5-EE94-E984830DD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103262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F9E76F2-5C1E-9604-A671-508D0A57894C}"/>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1E3153A0-C5E0-4139-6C9F-177EA06DF1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9546BECF-88DF-971A-7D4D-E9D365E7A1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869CFBA6-BFCD-4705-02AE-4497ECEFFC49}"/>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What Is LLM Red Teaming?</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4B85ADAF-F706-2130-5A95-A795438A5AA4}"/>
              </a:ext>
            </a:extLst>
          </p:cNvPr>
          <p:cNvSpPr txBox="1">
            <a:spLocks/>
          </p:cNvSpPr>
          <p:nvPr/>
        </p:nvSpPr>
        <p:spPr>
          <a:xfrm>
            <a:off x="536734" y="1368575"/>
            <a:ext cx="6492824" cy="4693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Large Language Model (LLM) red teaming refers to the practice of probing and attacking AI models in a controlled manner to uncover vulnerabilities and risky behaviours before malicious actors do. Unlike conventional software testing, which often focuses on code flaws, LLM red teaming specifically targets the model’s outputs and behaviour under adversarial conditions. </a:t>
            </a:r>
          </a:p>
          <a:p>
            <a:pPr marL="0" indent="0">
              <a:buNone/>
            </a:pPr>
            <a:endParaRPr lang="en-IN" sz="1400" dirty="0">
              <a:latin typeface="Speactral"/>
            </a:endParaRPr>
          </a:p>
          <a:p>
            <a:pPr marL="0" indent="0">
              <a:buNone/>
            </a:pPr>
            <a:r>
              <a:rPr lang="en-IN" sz="1400" dirty="0">
                <a:latin typeface="Speactral"/>
              </a:rPr>
              <a:t>Here are the main objectives of red teaming LLM systems:</a:t>
            </a:r>
          </a:p>
          <a:p>
            <a:pPr marL="0" indent="0">
              <a:buNone/>
            </a:pPr>
            <a:endParaRPr lang="en-IN" sz="1400" dirty="0">
              <a:latin typeface="Speactral"/>
            </a:endParaRPr>
          </a:p>
          <a:p>
            <a:pPr lvl="0"/>
            <a:r>
              <a:rPr lang="en-IN" sz="1400" b="1" dirty="0">
                <a:latin typeface="Speactral"/>
              </a:rPr>
              <a:t>Identifying Vulnerabilities: </a:t>
            </a:r>
            <a:r>
              <a:rPr lang="en-IN" sz="1400" dirty="0">
                <a:latin typeface="Speactral"/>
              </a:rPr>
              <a:t>Red teaming uncovers weaknesses in LLM behaviour, such as PII data leakage or toxic outputs, before they can be exploited.</a:t>
            </a:r>
          </a:p>
          <a:p>
            <a:pPr lvl="0"/>
            <a:r>
              <a:rPr lang="en-IN" sz="1400" b="1" dirty="0">
                <a:latin typeface="Speactral"/>
              </a:rPr>
              <a:t>Ensuring Robustness Against Attacks: </a:t>
            </a:r>
            <a:r>
              <a:rPr lang="en-IN" sz="1400" dirty="0">
                <a:latin typeface="Speactral"/>
              </a:rPr>
              <a:t>Evaluates the model’s resistance to adversarial manipulations, ensuring it can’t be tricked into bypassing safety rules or producing harmful content.</a:t>
            </a:r>
          </a:p>
          <a:p>
            <a:pPr lvl="0"/>
            <a:r>
              <a:rPr lang="en-IN" sz="1400" b="1" dirty="0">
                <a:latin typeface="Speactral"/>
              </a:rPr>
              <a:t>Preventing Reputational Harm: </a:t>
            </a:r>
            <a:r>
              <a:rPr lang="en-IN" sz="1400" dirty="0">
                <a:latin typeface="Speactral"/>
              </a:rPr>
              <a:t>Identifies risks of generating offensive, misleading, or controversial content that could damage trust in the AI system or the organization behind it.</a:t>
            </a:r>
          </a:p>
          <a:p>
            <a:pPr lvl="0"/>
            <a:r>
              <a:rPr lang="en-IN" sz="1400" b="1" dirty="0">
                <a:latin typeface="Speactral"/>
              </a:rPr>
              <a:t>Evaluating Compliance with Industry Guidelines: </a:t>
            </a:r>
            <a:r>
              <a:rPr lang="en-IN" sz="1400" dirty="0">
                <a:latin typeface="Speactral"/>
              </a:rPr>
              <a:t>Validates that the model adheres to ethical AI principles, regulatory requirements, and content moderation policies such as OWASP Top 10 for LLMs under real-world conditions.</a:t>
            </a:r>
          </a:p>
          <a:p>
            <a:pPr marL="0" indent="0">
              <a:buNone/>
            </a:pPr>
            <a:endParaRPr lang="en-IN" sz="1050" dirty="0">
              <a:latin typeface="Speactral"/>
            </a:endParaRPr>
          </a:p>
        </p:txBody>
      </p:sp>
      <p:pic>
        <p:nvPicPr>
          <p:cNvPr id="12" name="Picture 11" descr="Gemini's Biased Image Generation">
            <a:extLst>
              <a:ext uri="{FF2B5EF4-FFF2-40B4-BE49-F238E27FC236}">
                <a16:creationId xmlns:a16="http://schemas.microsoft.com/office/drawing/2014/main" id="{F94356D9-ED57-244A-B274-462C772DC824}"/>
              </a:ext>
            </a:extLst>
          </p:cNvPr>
          <p:cNvPicPr>
            <a:picLocks noChangeAspect="1"/>
          </p:cNvPicPr>
          <p:nvPr/>
        </p:nvPicPr>
        <p:blipFill>
          <a:blip r:embed="rId4"/>
          <a:stretch>
            <a:fillRect/>
          </a:stretch>
        </p:blipFill>
        <p:spPr>
          <a:xfrm>
            <a:off x="7029557" y="909639"/>
            <a:ext cx="4990886" cy="5038722"/>
          </a:xfrm>
          <a:prstGeom prst="rect">
            <a:avLst/>
          </a:prstGeom>
        </p:spPr>
      </p:pic>
    </p:spTree>
    <p:extLst>
      <p:ext uri="{BB962C8B-B14F-4D97-AF65-F5344CB8AC3E}">
        <p14:creationId xmlns:p14="http://schemas.microsoft.com/office/powerpoint/2010/main" val="218956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6CD95-25EE-F79A-E957-D8845EC305F2}"/>
            </a:ext>
          </a:extLst>
        </p:cNvPr>
        <p:cNvGrpSpPr/>
        <p:nvPr/>
      </p:nvGrpSpPr>
      <p:grpSpPr>
        <a:xfrm>
          <a:off x="0" y="0"/>
          <a:ext cx="0" cy="0"/>
          <a:chOff x="0" y="0"/>
          <a:chExt cx="0" cy="0"/>
        </a:xfrm>
      </p:grpSpPr>
      <p:pic>
        <p:nvPicPr>
          <p:cNvPr id="2" name="Graphic 1" descr="Model vs System Weakness">
            <a:extLst>
              <a:ext uri="{FF2B5EF4-FFF2-40B4-BE49-F238E27FC236}">
                <a16:creationId xmlns:a16="http://schemas.microsoft.com/office/drawing/2014/main" id="{A0BA4D41-592E-E5AF-2D56-D50B8F3D47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80226" y="1968650"/>
            <a:ext cx="5711774" cy="2664037"/>
          </a:xfrm>
          <a:prstGeom prst="rect">
            <a:avLst/>
          </a:prstGeom>
        </p:spPr>
      </p:pic>
      <p:grpSp>
        <p:nvGrpSpPr>
          <p:cNvPr id="8" name="Group 7">
            <a:extLst>
              <a:ext uri="{FF2B5EF4-FFF2-40B4-BE49-F238E27FC236}">
                <a16:creationId xmlns:a16="http://schemas.microsoft.com/office/drawing/2014/main" id="{244A0C63-E715-B474-F7E1-DC25ACA27F22}"/>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8C84A38A-43DC-F207-D368-599A5E75B9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DBE6FC47-9106-0289-796E-D0BB1FC144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82FACC4A-5482-92C8-4784-DD639194B348}"/>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How To Red Team Systems?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892AEBEC-0BCC-5574-D331-C63E54A722BE}"/>
              </a:ext>
            </a:extLst>
          </p:cNvPr>
          <p:cNvSpPr txBox="1">
            <a:spLocks/>
          </p:cNvSpPr>
          <p:nvPr/>
        </p:nvSpPr>
        <p:spPr>
          <a:xfrm>
            <a:off x="536734" y="1368575"/>
            <a:ext cx="6226016" cy="4693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Red teaming LLM systems involves systematically testing for vulnerabilities, adversarial weaknesses, and unintended behaviours, and typically includes </a:t>
            </a:r>
            <a:r>
              <a:rPr lang="en-IN" sz="1400" b="1" dirty="0">
                <a:latin typeface="Speactral"/>
              </a:rPr>
              <a:t>manual adversarial testing</a:t>
            </a:r>
            <a:r>
              <a:rPr lang="en-IN" sz="1400" dirty="0">
                <a:latin typeface="Speactral"/>
              </a:rPr>
              <a:t> to discover nuanced attacks and</a:t>
            </a:r>
            <a:r>
              <a:rPr lang="en-IN" sz="1400" b="1" dirty="0">
                <a:latin typeface="Speactral"/>
              </a:rPr>
              <a:t> automated attack simulations </a:t>
            </a:r>
            <a:r>
              <a:rPr lang="en-IN" sz="1400" dirty="0">
                <a:latin typeface="Speactral"/>
              </a:rPr>
              <a:t>for scale and efficiency.</a:t>
            </a:r>
          </a:p>
          <a:p>
            <a:pPr marL="0" indent="0">
              <a:buNone/>
            </a:pPr>
            <a:endParaRPr lang="en-IN" sz="1400" dirty="0">
              <a:latin typeface="Speactral"/>
            </a:endParaRPr>
          </a:p>
          <a:p>
            <a:pPr marL="0" indent="0">
              <a:buNone/>
            </a:pPr>
            <a:r>
              <a:rPr lang="en-IN" sz="1400" dirty="0">
                <a:latin typeface="Speactral"/>
              </a:rPr>
              <a:t>Here are the steps involved in an end-to-end, automated LLM red teaming workflow:</a:t>
            </a:r>
          </a:p>
          <a:p>
            <a:pPr marL="0" indent="0">
              <a:buNone/>
            </a:pPr>
            <a:endParaRPr lang="en-IN" sz="1400" dirty="0">
              <a:latin typeface="Speactral"/>
            </a:endParaRPr>
          </a:p>
          <a:p>
            <a:pPr lvl="0"/>
            <a:r>
              <a:rPr lang="en-IN" sz="1400" b="1" dirty="0">
                <a:latin typeface="Speactral"/>
              </a:rPr>
              <a:t>Vulnerabilities: </a:t>
            </a:r>
            <a:r>
              <a:rPr lang="en-IN" sz="1400" dirty="0">
                <a:latin typeface="Speactral"/>
              </a:rPr>
              <a:t>Decide on the vulnerabilities you wish to red team for, such as bias, PII leakage, and misinformation.</a:t>
            </a:r>
          </a:p>
          <a:p>
            <a:pPr lvl="0"/>
            <a:r>
              <a:rPr lang="en-IN" sz="1400" dirty="0">
                <a:latin typeface="Speactral"/>
              </a:rPr>
              <a:t> </a:t>
            </a:r>
            <a:r>
              <a:rPr lang="en-IN" sz="1400" b="1" dirty="0">
                <a:latin typeface="Speactral"/>
              </a:rPr>
              <a:t>Adversarial Attacks: </a:t>
            </a:r>
            <a:r>
              <a:rPr lang="en-IN" sz="1400" dirty="0">
                <a:latin typeface="Speactral"/>
              </a:rPr>
              <a:t>Simulate adversarial attacks for each vulnerability, using different techniques such as prompt injection, jailbreaking, and IP infringement.</a:t>
            </a:r>
          </a:p>
          <a:p>
            <a:pPr lvl="0"/>
            <a:r>
              <a:rPr lang="en-IN" sz="1400" b="1" dirty="0">
                <a:latin typeface="Speactral"/>
              </a:rPr>
              <a:t>Target LLM System: </a:t>
            </a:r>
            <a:r>
              <a:rPr lang="en-IN" sz="1400" dirty="0">
                <a:latin typeface="Speactral"/>
              </a:rPr>
              <a:t>Generate LLM outputs for each of these attacks/inputs with your LLM system.</a:t>
            </a:r>
          </a:p>
          <a:p>
            <a:pPr lvl="0"/>
            <a:r>
              <a:rPr lang="en-IN" sz="1400" b="1" dirty="0">
                <a:latin typeface="Speactral"/>
              </a:rPr>
              <a:t>Metrics: </a:t>
            </a:r>
            <a:r>
              <a:rPr lang="en-IN" sz="1400" dirty="0">
                <a:latin typeface="Speactral"/>
              </a:rPr>
              <a:t>Evaluate whether your LLM system has outputted something it is not supposed to, based on the corresponding attack and vulnerability.</a:t>
            </a:r>
          </a:p>
          <a:p>
            <a:pPr marL="0" indent="0">
              <a:buNone/>
            </a:pPr>
            <a:endParaRPr lang="en-IN" sz="1050" dirty="0">
              <a:latin typeface="Speactral"/>
            </a:endParaRPr>
          </a:p>
        </p:txBody>
      </p:sp>
    </p:spTree>
    <p:extLst>
      <p:ext uri="{BB962C8B-B14F-4D97-AF65-F5344CB8AC3E}">
        <p14:creationId xmlns:p14="http://schemas.microsoft.com/office/powerpoint/2010/main" val="308765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EFBD8-BCA7-7F20-61D2-DC5CD398653A}"/>
            </a:ext>
          </a:extLst>
        </p:cNvPr>
        <p:cNvGrpSpPr/>
        <p:nvPr/>
      </p:nvGrpSpPr>
      <p:grpSpPr>
        <a:xfrm>
          <a:off x="0" y="0"/>
          <a:ext cx="0" cy="0"/>
          <a:chOff x="0" y="0"/>
          <a:chExt cx="0" cy="0"/>
        </a:xfrm>
      </p:grpSpPr>
      <p:pic>
        <p:nvPicPr>
          <p:cNvPr id="3" name="Graphic 2" descr="Model vs System Weakness">
            <a:extLst>
              <a:ext uri="{FF2B5EF4-FFF2-40B4-BE49-F238E27FC236}">
                <a16:creationId xmlns:a16="http://schemas.microsoft.com/office/drawing/2014/main" id="{FD026D4E-96B8-0CBD-16C7-6B91AFD9C0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80019" y="1181266"/>
            <a:ext cx="6678134" cy="5068491"/>
          </a:xfrm>
          <a:prstGeom prst="rect">
            <a:avLst/>
          </a:prstGeom>
        </p:spPr>
      </p:pic>
      <p:grpSp>
        <p:nvGrpSpPr>
          <p:cNvPr id="8" name="Group 7">
            <a:extLst>
              <a:ext uri="{FF2B5EF4-FFF2-40B4-BE49-F238E27FC236}">
                <a16:creationId xmlns:a16="http://schemas.microsoft.com/office/drawing/2014/main" id="{EA498EF9-396F-37A8-9AC4-8AA8EC1CCD70}"/>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AFF7FC30-92A2-4ECB-5E57-9A4D409EF0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BBEBE2A1-BDDE-D7B5-5E3A-799B52381D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3E4E83CA-B969-6613-7A40-395923118A0A}"/>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Model vs System Weakness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5B033A06-C413-31F6-05B2-E87CC7C11C00}"/>
              </a:ext>
            </a:extLst>
          </p:cNvPr>
          <p:cNvSpPr txBox="1">
            <a:spLocks/>
          </p:cNvSpPr>
          <p:nvPr/>
        </p:nvSpPr>
        <p:spPr>
          <a:xfrm>
            <a:off x="536734" y="1368574"/>
            <a:ext cx="6226016" cy="51973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t>We've covered what LLM red teaming is, how it works, and how to execute it effectively. Now, let's talk about the root causes of these vulnerabilities. When your LLM system is weak against an adversarial attack or security risk, the issue can stem from either the model itself or the system around it. Understanding this distinction helps determine the right mitigation strategies.</a:t>
            </a:r>
          </a:p>
          <a:p>
            <a:pPr marL="0" indent="0">
              <a:buNone/>
            </a:pPr>
            <a:endParaRPr lang="en-IN" sz="1400" dirty="0">
              <a:latin typeface="Speactral"/>
            </a:endParaRPr>
          </a:p>
          <a:p>
            <a:pPr marL="0" indent="0">
              <a:buNone/>
            </a:pPr>
            <a:r>
              <a:rPr lang="en-IN" sz="1400" dirty="0"/>
              <a:t>For </a:t>
            </a:r>
            <a:r>
              <a:rPr lang="en-IN" sz="1400" b="1" dirty="0"/>
              <a:t>model weaknesses</a:t>
            </a:r>
            <a:r>
              <a:rPr lang="en-IN" sz="1400" dirty="0"/>
              <a:t>, it is usually a training &amp; fine-tuning issue:</a:t>
            </a:r>
          </a:p>
          <a:p>
            <a:pPr marL="0" indent="0">
              <a:buNone/>
            </a:pPr>
            <a:endParaRPr lang="en-IN" sz="400" dirty="0"/>
          </a:p>
          <a:p>
            <a:pPr lvl="0"/>
            <a:r>
              <a:rPr lang="en-IN" sz="1400" b="1" dirty="0"/>
              <a:t>Bias &amp; Toxicity.</a:t>
            </a:r>
          </a:p>
          <a:p>
            <a:pPr lvl="0"/>
            <a:r>
              <a:rPr lang="en-IN" sz="1400" b="1" dirty="0"/>
              <a:t>Misinformation &amp; Hallucinations.</a:t>
            </a:r>
          </a:p>
          <a:p>
            <a:pPr lvl="0"/>
            <a:r>
              <a:rPr lang="en-IN" sz="1400" b="1" dirty="0"/>
              <a:t>Jailbreaking &amp; Prompt Injection Susceptibility.</a:t>
            </a:r>
          </a:p>
          <a:p>
            <a:pPr lvl="0"/>
            <a:r>
              <a:rPr lang="en-IN" sz="1400" b="1" dirty="0"/>
              <a:t>PII Leakage.</a:t>
            </a:r>
          </a:p>
          <a:p>
            <a:pPr lvl="0"/>
            <a:endParaRPr lang="en-IN" sz="1400" b="1" dirty="0"/>
          </a:p>
          <a:p>
            <a:pPr marL="0" lvl="0" indent="0">
              <a:buNone/>
            </a:pPr>
            <a:r>
              <a:rPr lang="en-IN" sz="1400" dirty="0"/>
              <a:t>For </a:t>
            </a:r>
            <a:r>
              <a:rPr lang="en-IN" sz="1400" b="1" dirty="0"/>
              <a:t>system weaknesses</a:t>
            </a:r>
            <a:r>
              <a:rPr lang="en-IN" sz="1400" dirty="0"/>
              <a:t>, these stem from poor data handling at runtime and unchecked API access with dangerous tool-calling capabilities:</a:t>
            </a:r>
          </a:p>
          <a:p>
            <a:pPr marL="0" lvl="0" indent="0">
              <a:buNone/>
            </a:pPr>
            <a:endParaRPr lang="en-IN" sz="400" dirty="0"/>
          </a:p>
          <a:p>
            <a:pPr lvl="0"/>
            <a:r>
              <a:rPr lang="en-IN" sz="1400" b="1" dirty="0"/>
              <a:t>PII Leakage &amp; Data Exposure.</a:t>
            </a:r>
          </a:p>
          <a:p>
            <a:pPr lvl="0"/>
            <a:r>
              <a:rPr lang="en-IN" sz="1400" b="1" dirty="0"/>
              <a:t>Tool Misuse &amp; Permissions.</a:t>
            </a:r>
          </a:p>
          <a:p>
            <a:pPr lvl="0"/>
            <a:r>
              <a:rPr lang="en-IN" sz="1400" b="1" dirty="0"/>
              <a:t>Prompt Injections.</a:t>
            </a:r>
          </a:p>
          <a:p>
            <a:pPr marL="0" lvl="0" indent="0">
              <a:buNone/>
            </a:pPr>
            <a:endParaRPr lang="en-IN" sz="1400" dirty="0"/>
          </a:p>
          <a:p>
            <a:pPr marL="0" indent="0">
              <a:buNone/>
            </a:pPr>
            <a:endParaRPr lang="en-IN" sz="1400" dirty="0">
              <a:latin typeface="Speactral"/>
            </a:endParaRPr>
          </a:p>
        </p:txBody>
      </p:sp>
    </p:spTree>
    <p:extLst>
      <p:ext uri="{BB962C8B-B14F-4D97-AF65-F5344CB8AC3E}">
        <p14:creationId xmlns:p14="http://schemas.microsoft.com/office/powerpoint/2010/main" val="1969242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3E56-94CD-1A44-A453-C29E433E1C93}"/>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946848A-6023-CEF2-B908-0FBF105622A5}"/>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642B3688-B090-F7D5-2F23-6D5F67F874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1547E77F-554D-88AC-0252-5A1308A8B1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248E326D-2F43-4702-C373-C31218C5A744}"/>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What is DeepTeam?</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26D4C8DA-A861-730F-54E6-8664E907FEC3}"/>
              </a:ext>
            </a:extLst>
          </p:cNvPr>
          <p:cNvSpPr txBox="1">
            <a:spLocks/>
          </p:cNvSpPr>
          <p:nvPr/>
        </p:nvSpPr>
        <p:spPr>
          <a:xfrm>
            <a:off x="536734" y="1368575"/>
            <a:ext cx="6226016" cy="4693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b="1" dirty="0">
                <a:latin typeface="Speactral"/>
              </a:rPr>
              <a:t>DeepTeam</a:t>
            </a:r>
            <a:r>
              <a:rPr lang="en-IN" sz="1400" dirty="0">
                <a:latin typeface="Speactral"/>
              </a:rPr>
              <a:t> is an open-source framework to red team LLM systems. DeepTeam makes it extremely easy to incorporate the latest security guidelines and research to detect risks and vulnerabilities for LLMs, and was built with the following principles in mind:</a:t>
            </a:r>
          </a:p>
          <a:p>
            <a:pPr marL="0" indent="0">
              <a:buNone/>
            </a:pPr>
            <a:endParaRPr lang="en-IN" sz="1400" dirty="0">
              <a:latin typeface="Speactral"/>
            </a:endParaRPr>
          </a:p>
          <a:p>
            <a:pPr lvl="0"/>
            <a:r>
              <a:rPr lang="en-IN" sz="1400" dirty="0">
                <a:latin typeface="Speactral"/>
              </a:rPr>
              <a:t>Easily "</a:t>
            </a:r>
            <a:r>
              <a:rPr lang="en-IN" sz="1400" b="1" dirty="0">
                <a:latin typeface="Speactral"/>
              </a:rPr>
              <a:t>penetration test</a:t>
            </a:r>
            <a:r>
              <a:rPr lang="en-IN" sz="1400" dirty="0">
                <a:latin typeface="Speactral"/>
              </a:rPr>
              <a:t>" LLM applications to detect </a:t>
            </a:r>
            <a:r>
              <a:rPr lang="en-IN" sz="1400" b="1" dirty="0">
                <a:latin typeface="Speactral"/>
              </a:rPr>
              <a:t>40+ security vulnerabilities </a:t>
            </a:r>
            <a:r>
              <a:rPr lang="en-IN" sz="1400" dirty="0">
                <a:latin typeface="Speactral"/>
              </a:rPr>
              <a:t>and safety risks.</a:t>
            </a:r>
          </a:p>
          <a:p>
            <a:pPr lvl="0"/>
            <a:r>
              <a:rPr lang="en-IN" sz="1400" dirty="0">
                <a:latin typeface="Speactral"/>
              </a:rPr>
              <a:t>Detect vulnerabilities such as </a:t>
            </a:r>
            <a:r>
              <a:rPr lang="en-IN" sz="1400" b="1" dirty="0">
                <a:latin typeface="Speactral"/>
              </a:rPr>
              <a:t>bias</a:t>
            </a:r>
            <a:r>
              <a:rPr lang="en-IN" sz="1400" dirty="0">
                <a:latin typeface="Speactral"/>
              </a:rPr>
              <a:t>, </a:t>
            </a:r>
            <a:r>
              <a:rPr lang="en-IN" sz="1400" b="1" dirty="0">
                <a:latin typeface="Speactral"/>
              </a:rPr>
              <a:t>misinformation</a:t>
            </a:r>
            <a:r>
              <a:rPr lang="en-IN" sz="1400" dirty="0">
                <a:latin typeface="Speactral"/>
              </a:rPr>
              <a:t>, </a:t>
            </a:r>
            <a:r>
              <a:rPr lang="en-IN" sz="1400" b="1" dirty="0">
                <a:latin typeface="Speactral"/>
              </a:rPr>
              <a:t>PII leakage</a:t>
            </a:r>
            <a:r>
              <a:rPr lang="en-IN" sz="1400" dirty="0">
                <a:latin typeface="Speactral"/>
              </a:rPr>
              <a:t>, over-reliance on context, and harmful content generation.</a:t>
            </a:r>
          </a:p>
          <a:p>
            <a:pPr lvl="0"/>
            <a:r>
              <a:rPr lang="en-IN" sz="1400" dirty="0">
                <a:latin typeface="Speactral"/>
              </a:rPr>
              <a:t>Simulate adversarial attacks using </a:t>
            </a:r>
            <a:r>
              <a:rPr lang="en-IN" sz="1400" b="1" dirty="0">
                <a:latin typeface="Speactral"/>
              </a:rPr>
              <a:t>10+ methods, </a:t>
            </a:r>
            <a:r>
              <a:rPr lang="en-IN" sz="1400" dirty="0">
                <a:latin typeface="Speactral"/>
              </a:rPr>
              <a:t>including</a:t>
            </a:r>
            <a:r>
              <a:rPr lang="en-IN" sz="1400" b="1" dirty="0">
                <a:latin typeface="Speactral"/>
              </a:rPr>
              <a:t> jailbreaking, prompt injection, automated evasion, data extraction, </a:t>
            </a:r>
            <a:r>
              <a:rPr lang="en-IN" sz="1400" dirty="0">
                <a:latin typeface="Speactral"/>
              </a:rPr>
              <a:t>and</a:t>
            </a:r>
            <a:r>
              <a:rPr lang="en-IN" sz="1400" b="1" dirty="0">
                <a:latin typeface="Speactral"/>
              </a:rPr>
              <a:t> response manipulation</a:t>
            </a:r>
            <a:r>
              <a:rPr lang="en-IN" sz="1400" dirty="0">
                <a:latin typeface="Speactral"/>
              </a:rPr>
              <a:t>.</a:t>
            </a:r>
          </a:p>
          <a:p>
            <a:pPr lvl="0"/>
            <a:r>
              <a:rPr lang="en-IN" sz="1400" dirty="0">
                <a:latin typeface="Speactral"/>
              </a:rPr>
              <a:t>Customize security assessments to align with </a:t>
            </a:r>
            <a:r>
              <a:rPr lang="en-IN" sz="1400" b="1" dirty="0">
                <a:latin typeface="Speactral"/>
              </a:rPr>
              <a:t>OWASP Top 10</a:t>
            </a:r>
            <a:r>
              <a:rPr lang="en-IN" sz="1400" dirty="0">
                <a:latin typeface="Speactral"/>
              </a:rPr>
              <a:t> for LLMs, </a:t>
            </a:r>
            <a:r>
              <a:rPr lang="en-IN" sz="1400" b="1" dirty="0">
                <a:latin typeface="Speactral"/>
              </a:rPr>
              <a:t>NIST AI Risk Management</a:t>
            </a:r>
            <a:r>
              <a:rPr lang="en-IN" sz="1400" dirty="0">
                <a:latin typeface="Speactral"/>
              </a:rPr>
              <a:t>, and industry best practices.</a:t>
            </a:r>
          </a:p>
          <a:p>
            <a:pPr lvl="0"/>
            <a:endParaRPr lang="en-IN" sz="1400" dirty="0">
              <a:latin typeface="Speactral"/>
            </a:endParaRPr>
          </a:p>
          <a:p>
            <a:pPr marL="0" lvl="0" indent="0">
              <a:buNone/>
            </a:pPr>
            <a:r>
              <a:rPr lang="en-IN" sz="1400" dirty="0">
                <a:latin typeface="Speactral"/>
              </a:rPr>
              <a:t>Additionally, DeepTeam is built on DeepEval, the open-source LLM evaluation framework. While DeepEval focuses on regular LLM evaluation, DeepTeam is dedicated to red teaming.</a:t>
            </a:r>
          </a:p>
        </p:txBody>
      </p:sp>
      <p:pic>
        <p:nvPicPr>
          <p:cNvPr id="4" name="Picture 3">
            <a:extLst>
              <a:ext uri="{FF2B5EF4-FFF2-40B4-BE49-F238E27FC236}">
                <a16:creationId xmlns:a16="http://schemas.microsoft.com/office/drawing/2014/main" id="{97A38F04-0F51-E04D-B19D-1335EAA0FE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9764" y="1643063"/>
            <a:ext cx="5392235" cy="3405188"/>
          </a:xfrm>
          <a:prstGeom prst="rect">
            <a:avLst/>
          </a:prstGeom>
          <a:ln>
            <a:noFill/>
          </a:ln>
          <a:effectLst>
            <a:softEdge rad="112500"/>
          </a:effectLst>
        </p:spPr>
      </p:pic>
    </p:spTree>
    <p:extLst>
      <p:ext uri="{BB962C8B-B14F-4D97-AF65-F5344CB8AC3E}">
        <p14:creationId xmlns:p14="http://schemas.microsoft.com/office/powerpoint/2010/main" val="64953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02E1A-81E9-FC50-35BD-964ABD79FAF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E8E99E5-6B1C-41BD-A30B-687C4A5D2865}"/>
              </a:ext>
            </a:extLst>
          </p:cNvPr>
          <p:cNvPicPr>
            <a:picLocks noChangeAspect="1"/>
          </p:cNvPicPr>
          <p:nvPr/>
        </p:nvPicPr>
        <p:blipFill>
          <a:blip r:embed="rId3"/>
          <a:stretch>
            <a:fillRect/>
          </a:stretch>
        </p:blipFill>
        <p:spPr>
          <a:xfrm>
            <a:off x="4891166" y="1981202"/>
            <a:ext cx="7300833" cy="2435558"/>
          </a:xfrm>
          <a:prstGeom prst="rect">
            <a:avLst/>
          </a:prstGeom>
        </p:spPr>
      </p:pic>
      <p:grpSp>
        <p:nvGrpSpPr>
          <p:cNvPr id="8" name="Group 7">
            <a:extLst>
              <a:ext uri="{FF2B5EF4-FFF2-40B4-BE49-F238E27FC236}">
                <a16:creationId xmlns:a16="http://schemas.microsoft.com/office/drawing/2014/main" id="{BF261FC4-022C-85F0-17B8-7414263EC566}"/>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2E3DB50D-D23A-79BB-C6B5-93069314D1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A543DB00-9C0E-18E4-8E03-F9ACCDD4AA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2C79B725-F7AD-CD8A-057B-D6A52492B980}"/>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Adversarial Attacks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A461D6FC-7572-D6D8-8973-864CE78F50B0}"/>
              </a:ext>
            </a:extLst>
          </p:cNvPr>
          <p:cNvSpPr txBox="1">
            <a:spLocks/>
          </p:cNvSpPr>
          <p:nvPr/>
        </p:nvSpPr>
        <p:spPr>
          <a:xfrm>
            <a:off x="536734" y="1368575"/>
            <a:ext cx="5254466" cy="4693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Attack methods in DeepTeam are all about enhancing or progressing existing "baseline" </a:t>
            </a:r>
            <a:r>
              <a:rPr lang="en-IN" sz="1400" b="1" dirty="0">
                <a:latin typeface="Speactral"/>
              </a:rPr>
              <a:t>adversarial attacks</a:t>
            </a:r>
            <a:r>
              <a:rPr lang="en-IN" sz="1400" dirty="0">
                <a:latin typeface="Speactral"/>
              </a:rPr>
              <a:t>  (</a:t>
            </a:r>
            <a:r>
              <a:rPr lang="en-IN" sz="1400" i="1" dirty="0">
                <a:latin typeface="Speactral"/>
              </a:rPr>
              <a:t>harmful prompts that target a specific vulnerability)</a:t>
            </a:r>
            <a:r>
              <a:rPr lang="en-IN" sz="1400" dirty="0">
                <a:latin typeface="Speactral"/>
              </a:rPr>
              <a:t>. These "baseline" attacks are usually simulated from a specific vulnerability.</a:t>
            </a:r>
          </a:p>
          <a:p>
            <a:pPr marL="0" indent="0">
              <a:buNone/>
            </a:pPr>
            <a:r>
              <a:rPr lang="en-IN" sz="1400" dirty="0">
                <a:latin typeface="Speactral"/>
              </a:rPr>
              <a:t>You would enhance a baseline attack for single-turn use cases, while progressing a single attack into a multi-turn one if you're building conversational use cases.</a:t>
            </a:r>
          </a:p>
          <a:p>
            <a:pPr marL="0" indent="0">
              <a:buNone/>
            </a:pPr>
            <a:endParaRPr lang="en-IN" sz="1400" dirty="0">
              <a:latin typeface="Speactral"/>
            </a:endParaRPr>
          </a:p>
          <a:p>
            <a:pPr marL="0" indent="0">
              <a:buNone/>
            </a:pPr>
            <a:r>
              <a:rPr lang="en-IN" sz="1400" b="1" dirty="0">
                <a:latin typeface="Speactral"/>
              </a:rPr>
              <a:t>How Does It Work?</a:t>
            </a:r>
          </a:p>
          <a:p>
            <a:pPr marL="0" indent="0">
              <a:buNone/>
            </a:pPr>
            <a:endParaRPr lang="en-IN" sz="400" b="1" dirty="0">
              <a:latin typeface="Speactral"/>
            </a:endParaRPr>
          </a:p>
          <a:p>
            <a:pPr marL="0" indent="0">
              <a:buNone/>
            </a:pPr>
            <a:r>
              <a:rPr lang="en-IN" sz="1400" dirty="0">
                <a:latin typeface="Speactral"/>
              </a:rPr>
              <a:t>DeepTeam attacks work by first simulating simplistic "baseline" adversarial attacks, before progressively applying various attack methods such as Prompt Injection to create more sophisticated versions akin to what a malicious user would be doing. This is known as attack enhancement.</a:t>
            </a:r>
          </a:p>
          <a:p>
            <a:pPr marL="0" indent="0">
              <a:buNone/>
            </a:pPr>
            <a:endParaRPr lang="en-IN" sz="1400" dirty="0">
              <a:latin typeface="Speactral"/>
            </a:endParaRPr>
          </a:p>
          <a:p>
            <a:pPr marL="0" indent="0">
              <a:buNone/>
            </a:pPr>
            <a:r>
              <a:rPr lang="en-IN" sz="1400" dirty="0">
                <a:latin typeface="Speactral"/>
              </a:rPr>
              <a:t>In DeepTeam, there are two main categories of attacks:</a:t>
            </a:r>
          </a:p>
          <a:p>
            <a:pPr marL="0" indent="0">
              <a:buNone/>
            </a:pPr>
            <a:endParaRPr lang="en-IN" sz="400" dirty="0">
              <a:latin typeface="Speactral"/>
            </a:endParaRPr>
          </a:p>
          <a:p>
            <a:pPr lvl="0"/>
            <a:r>
              <a:rPr lang="en-IN" sz="1400" b="1" dirty="0">
                <a:latin typeface="Speactral"/>
              </a:rPr>
              <a:t>Single-turn</a:t>
            </a:r>
          </a:p>
          <a:p>
            <a:pPr lvl="0"/>
            <a:r>
              <a:rPr lang="en-IN" sz="1400" b="1" dirty="0">
                <a:latin typeface="Speactral"/>
              </a:rPr>
              <a:t>Multi-turn</a:t>
            </a:r>
          </a:p>
          <a:p>
            <a:endParaRPr lang="en-IN" sz="1400" dirty="0">
              <a:latin typeface="Speactral"/>
            </a:endParaRPr>
          </a:p>
          <a:p>
            <a:pPr marL="0" indent="0">
              <a:buNone/>
            </a:pPr>
            <a:endParaRPr lang="en-IN" sz="1400" b="1" dirty="0">
              <a:latin typeface="Speactral"/>
            </a:endParaRPr>
          </a:p>
        </p:txBody>
      </p:sp>
    </p:spTree>
    <p:extLst>
      <p:ext uri="{BB962C8B-B14F-4D97-AF65-F5344CB8AC3E}">
        <p14:creationId xmlns:p14="http://schemas.microsoft.com/office/powerpoint/2010/main" val="2188133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C6146-2920-3A19-AA3D-31D91F9271C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165A2C0-4D0F-EF29-47C1-D8FDE249B199}"/>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F6F64C15-FC01-E0D4-FFAE-60A3EFE842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8D901F87-56F8-8985-B9C9-543926BDD0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4AE61180-0FB3-6110-B6D2-3A70DF28ED2E}"/>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Single Turn Attacks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5D697108-6D5F-EB60-C16D-099F239ECD72}"/>
              </a:ext>
            </a:extLst>
          </p:cNvPr>
          <p:cNvSpPr txBox="1">
            <a:spLocks/>
          </p:cNvSpPr>
          <p:nvPr/>
        </p:nvSpPr>
        <p:spPr>
          <a:xfrm>
            <a:off x="536733" y="923544"/>
            <a:ext cx="11240822" cy="29721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b="1" dirty="0">
                <a:latin typeface="Speactral"/>
              </a:rPr>
              <a:t>Single-turn enhancements </a:t>
            </a:r>
            <a:r>
              <a:rPr lang="en-IN" sz="1400" dirty="0">
                <a:latin typeface="Speactral"/>
              </a:rPr>
              <a:t>are just one-shot attack enhancements, they take a single attack and enhance it without involving the usage of the target LLM.</a:t>
            </a:r>
          </a:p>
          <a:p>
            <a:pPr marL="0" indent="0">
              <a:buNone/>
            </a:pPr>
            <a:endParaRPr lang="en-IN" sz="400" dirty="0">
              <a:latin typeface="Speactral"/>
            </a:endParaRPr>
          </a:p>
          <a:p>
            <a:pPr marL="0" indent="0">
              <a:buNone/>
            </a:pPr>
            <a:r>
              <a:rPr lang="en-IN" sz="1400" dirty="0">
                <a:latin typeface="Speactral"/>
              </a:rPr>
              <a:t>Single-turn enhancements are categorized into two main types:</a:t>
            </a:r>
          </a:p>
          <a:p>
            <a:pPr marL="0" indent="0">
              <a:buNone/>
            </a:pPr>
            <a:endParaRPr lang="en-IN" sz="400" dirty="0">
              <a:latin typeface="Speactral"/>
            </a:endParaRPr>
          </a:p>
          <a:p>
            <a:pPr lvl="0"/>
            <a:r>
              <a:rPr lang="en-IN" sz="1400" b="1" dirty="0">
                <a:latin typeface="Speactral"/>
              </a:rPr>
              <a:t>Encoding-based:</a:t>
            </a:r>
            <a:r>
              <a:rPr lang="en-IN" sz="1400" dirty="0">
                <a:latin typeface="Speactral"/>
              </a:rPr>
              <a:t> DeepTeam supports multiple encoding-based attack enhancements that work by transforming the baseline attack using different encoding or encryption techniques. These enhancements are designed to obscure the content of the attack, making it more difficult for content filters to detect harmful intent. Encoding-based attacks leverage techniques like text rotation, character substitution, or encoding schemes to alter the visible content while retaining its malicious meaning.</a:t>
            </a:r>
          </a:p>
          <a:p>
            <a:pPr lvl="0"/>
            <a:r>
              <a:rPr lang="en-IN" sz="1400" b="1" dirty="0">
                <a:latin typeface="Speactral"/>
              </a:rPr>
              <a:t>One-shot: </a:t>
            </a:r>
            <a:r>
              <a:rPr lang="en-IN" sz="1400" dirty="0">
                <a:latin typeface="Speactral"/>
              </a:rPr>
              <a:t>One-shot attack enhancements utilize an LLM to creatively modify the baseline attack in a single pass. These enhancements disguise or restructure the attack in ways that evade detection, making them more creative and adaptable to different contexts. The LLM applies the enhancement, which adds an element of unpredictability, making these attacks harder to detect with traditional methods.</a:t>
            </a:r>
            <a:br>
              <a:rPr lang="en-IN" sz="1400" dirty="0">
                <a:latin typeface="Speactral"/>
              </a:rPr>
            </a:br>
            <a:endParaRPr lang="en-IN" sz="1400" b="1" dirty="0">
              <a:latin typeface="Speactral"/>
            </a:endParaRPr>
          </a:p>
        </p:txBody>
      </p:sp>
      <p:pic>
        <p:nvPicPr>
          <p:cNvPr id="2" name="Graphic 1" descr="LangChain">
            <a:extLst>
              <a:ext uri="{FF2B5EF4-FFF2-40B4-BE49-F238E27FC236}">
                <a16:creationId xmlns:a16="http://schemas.microsoft.com/office/drawing/2014/main" id="{FC79788E-BDE2-719B-2790-9D1140919B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35609" y="3895725"/>
            <a:ext cx="5557758" cy="1521468"/>
          </a:xfrm>
          <a:prstGeom prst="rect">
            <a:avLst/>
          </a:prstGeom>
        </p:spPr>
      </p:pic>
      <p:sp>
        <p:nvSpPr>
          <p:cNvPr id="12" name="Text Placeholder 19">
            <a:extLst>
              <a:ext uri="{FF2B5EF4-FFF2-40B4-BE49-F238E27FC236}">
                <a16:creationId xmlns:a16="http://schemas.microsoft.com/office/drawing/2014/main" id="{A7B6FCAE-90A0-6AB6-8BDD-A2702FDA4B05}"/>
              </a:ext>
            </a:extLst>
          </p:cNvPr>
          <p:cNvSpPr txBox="1">
            <a:spLocks/>
          </p:cNvSpPr>
          <p:nvPr/>
        </p:nvSpPr>
        <p:spPr>
          <a:xfrm>
            <a:off x="647039" y="5629273"/>
            <a:ext cx="11240822" cy="8667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Adversarial Poetry, Authority Escalation, Base64, Character Stream, Context Flooding, Embedded Instruction JSON, Emotional Manipulation, Gray Box Attack, </a:t>
            </a:r>
            <a:r>
              <a:rPr lang="en-IN" sz="1400" dirty="0" err="1">
                <a:latin typeface="Speactral"/>
              </a:rPr>
              <a:t>Leetspeak</a:t>
            </a:r>
            <a:r>
              <a:rPr lang="en-IN" sz="1400" dirty="0">
                <a:latin typeface="Speactral"/>
              </a:rPr>
              <a:t>, Math Problem, Multilingual, Prompt Injection, Roleplay, ROT13, Synthetic Context Injection, Context Poisoning, Input Bypass, Permission Escalation, Semantic Manipulation, System Override</a:t>
            </a:r>
          </a:p>
          <a:p>
            <a:pPr marL="0" indent="0">
              <a:buNone/>
            </a:pPr>
            <a:endParaRPr lang="en-IN" sz="1400" b="1" dirty="0">
              <a:latin typeface="Speactral"/>
            </a:endParaRPr>
          </a:p>
        </p:txBody>
      </p:sp>
      <p:pic>
        <p:nvPicPr>
          <p:cNvPr id="13" name="Graphic 12" descr="LangChain">
            <a:extLst>
              <a:ext uri="{FF2B5EF4-FFF2-40B4-BE49-F238E27FC236}">
                <a16:creationId xmlns:a16="http://schemas.microsoft.com/office/drawing/2014/main" id="{09131CC5-82DB-F6B0-7F98-93A54D3646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6970" y="4073995"/>
            <a:ext cx="5181360" cy="1083319"/>
          </a:xfrm>
          <a:prstGeom prst="rect">
            <a:avLst/>
          </a:prstGeom>
        </p:spPr>
      </p:pic>
    </p:spTree>
    <p:extLst>
      <p:ext uri="{BB962C8B-B14F-4D97-AF65-F5344CB8AC3E}">
        <p14:creationId xmlns:p14="http://schemas.microsoft.com/office/powerpoint/2010/main" val="2106389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35D31-F425-3028-5297-0D309B331F75}"/>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B6B6C94-B77D-2068-C489-DEBDEA719671}"/>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F5D492F2-FA7D-A3E4-6D7F-CA4FB503DE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D8EBA37B-732B-54FB-4591-058D3C5D38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32723A5C-F877-58AA-F809-F11DB992F879}"/>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Multi Turn Attacks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22D086EF-05BB-DCD8-54C0-8CA5085112DC}"/>
              </a:ext>
            </a:extLst>
          </p:cNvPr>
          <p:cNvSpPr txBox="1">
            <a:spLocks/>
          </p:cNvSpPr>
          <p:nvPr/>
        </p:nvSpPr>
        <p:spPr>
          <a:xfrm>
            <a:off x="536734" y="1114425"/>
            <a:ext cx="5559266" cy="5143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Multi-turn progressions are </a:t>
            </a:r>
            <a:r>
              <a:rPr lang="en-IN" sz="1400" b="1" dirty="0">
                <a:latin typeface="Speactral"/>
              </a:rPr>
              <a:t>iterative</a:t>
            </a:r>
            <a:r>
              <a:rPr lang="en-IN" sz="1400" dirty="0">
                <a:latin typeface="Speactral"/>
              </a:rPr>
              <a:t> red-teaming flows that start from a base attack taken from a known vulnerability and adapt this attack across conversational turns. Each turn uses the </a:t>
            </a:r>
            <a:r>
              <a:rPr lang="en-IN" sz="1400" b="1" dirty="0">
                <a:latin typeface="Speactral"/>
              </a:rPr>
              <a:t>target model's previous reply to refine </a:t>
            </a:r>
            <a:r>
              <a:rPr lang="en-IN" sz="1400" dirty="0">
                <a:latin typeface="Speactral"/>
              </a:rPr>
              <a:t>the attack by rephrasing, changing persona, or escalating intensity. This technique allows you to probe weaknesses gradually instead of requesting a single direct exploit.</a:t>
            </a:r>
          </a:p>
          <a:p>
            <a:pPr marL="0" indent="0">
              <a:buNone/>
            </a:pPr>
            <a:endParaRPr lang="en-IN" sz="400" dirty="0">
              <a:latin typeface="Speactral"/>
            </a:endParaRPr>
          </a:p>
          <a:p>
            <a:pPr marL="0" indent="0">
              <a:buNone/>
            </a:pPr>
            <a:r>
              <a:rPr lang="en-IN" sz="1400" dirty="0">
                <a:latin typeface="Speactral"/>
              </a:rPr>
              <a:t>The flow continues until the model produces a harmful output or the configured turn/depth limits are reached, this </a:t>
            </a:r>
            <a:r>
              <a:rPr lang="en-IN" sz="1400" i="1" dirty="0">
                <a:latin typeface="Speactral"/>
              </a:rPr>
              <a:t>bounded</a:t>
            </a:r>
            <a:r>
              <a:rPr lang="en-IN" sz="1400" dirty="0">
                <a:latin typeface="Speactral"/>
              </a:rPr>
              <a:t> approach      makes tests repeatable and reduces risk. Because each turn builds on prior context, multi-turn attacks are especially effective at revealing   subtle failure modes such as inconsistent refusals, context leakage,        and escalation vulnerabilities.</a:t>
            </a:r>
          </a:p>
          <a:p>
            <a:pPr marL="0" indent="0">
              <a:buNone/>
            </a:pPr>
            <a:endParaRPr lang="en-IN" sz="400" dirty="0">
              <a:latin typeface="Speactral"/>
            </a:endParaRPr>
          </a:p>
          <a:p>
            <a:pPr marL="0" indent="0">
              <a:buNone/>
            </a:pPr>
            <a:r>
              <a:rPr lang="en-IN" sz="1400" dirty="0">
                <a:latin typeface="Speactral"/>
              </a:rPr>
              <a:t>There are a total of </a:t>
            </a:r>
            <a:r>
              <a:rPr lang="en-IN" sz="1400" b="1" dirty="0">
                <a:latin typeface="Speactral"/>
              </a:rPr>
              <a:t>5 multi-turn </a:t>
            </a:r>
            <a:r>
              <a:rPr lang="en-IN" sz="1400" dirty="0">
                <a:latin typeface="Speactral"/>
              </a:rPr>
              <a:t>attacks available on DeepTeam:</a:t>
            </a:r>
          </a:p>
          <a:p>
            <a:pPr marL="0" indent="0">
              <a:buNone/>
            </a:pPr>
            <a:endParaRPr lang="en-IN" sz="400" dirty="0">
              <a:latin typeface="Speactral"/>
            </a:endParaRPr>
          </a:p>
          <a:p>
            <a:pPr lvl="0"/>
            <a:r>
              <a:rPr lang="en-IN" sz="1400" b="1" dirty="0">
                <a:latin typeface="Speactral"/>
              </a:rPr>
              <a:t>Bad </a:t>
            </a:r>
            <a:r>
              <a:rPr lang="en-IN" sz="1400" b="1" dirty="0" err="1">
                <a:latin typeface="Speactral"/>
              </a:rPr>
              <a:t>LikertJudge</a:t>
            </a:r>
            <a:endParaRPr lang="en-IN" sz="1400" b="1" dirty="0">
              <a:latin typeface="Speactral"/>
            </a:endParaRPr>
          </a:p>
          <a:p>
            <a:pPr lvl="0"/>
            <a:r>
              <a:rPr lang="en-IN" sz="1400" b="1" dirty="0" err="1">
                <a:latin typeface="Speactral"/>
              </a:rPr>
              <a:t>CrescendoJailbreaking</a:t>
            </a:r>
            <a:endParaRPr lang="en-IN" sz="1400" b="1" dirty="0">
              <a:latin typeface="Speactral"/>
            </a:endParaRPr>
          </a:p>
          <a:p>
            <a:pPr lvl="0"/>
            <a:r>
              <a:rPr lang="en-IN" sz="1400" b="1" dirty="0" err="1">
                <a:latin typeface="Speactral"/>
              </a:rPr>
              <a:t>LinearJailbreaking</a:t>
            </a:r>
            <a:endParaRPr lang="en-IN" sz="1400" b="1" dirty="0">
              <a:latin typeface="Speactral"/>
            </a:endParaRPr>
          </a:p>
          <a:p>
            <a:pPr lvl="0"/>
            <a:r>
              <a:rPr lang="en-IN" sz="1400" b="1" dirty="0" err="1">
                <a:latin typeface="Speactral"/>
              </a:rPr>
              <a:t>SequentialBreak</a:t>
            </a:r>
            <a:endParaRPr lang="en-IN" sz="1400" b="1" dirty="0">
              <a:latin typeface="Speactral"/>
            </a:endParaRPr>
          </a:p>
          <a:p>
            <a:pPr lvl="0"/>
            <a:r>
              <a:rPr lang="en-IN" sz="1400" b="1" dirty="0" err="1">
                <a:latin typeface="Speactral"/>
              </a:rPr>
              <a:t>TreeJailbreaking</a:t>
            </a:r>
            <a:endParaRPr lang="en-IN" sz="1400" b="1" dirty="0">
              <a:latin typeface="Speactral"/>
            </a:endParaRPr>
          </a:p>
        </p:txBody>
      </p:sp>
      <p:pic>
        <p:nvPicPr>
          <p:cNvPr id="3" name="Graphic 2" descr="LangChain">
            <a:extLst>
              <a:ext uri="{FF2B5EF4-FFF2-40B4-BE49-F238E27FC236}">
                <a16:creationId xmlns:a16="http://schemas.microsoft.com/office/drawing/2014/main" id="{B5C73FBD-1572-64D1-91B8-FC198ED0AB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4525" y="1866709"/>
            <a:ext cx="6240032" cy="2601530"/>
          </a:xfrm>
          <a:prstGeom prst="rect">
            <a:avLst/>
          </a:prstGeom>
        </p:spPr>
      </p:pic>
    </p:spTree>
    <p:extLst>
      <p:ext uri="{BB962C8B-B14F-4D97-AF65-F5344CB8AC3E}">
        <p14:creationId xmlns:p14="http://schemas.microsoft.com/office/powerpoint/2010/main" val="210196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D001A-966F-C53A-3D38-5FB735ECA6B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2B17826-2810-3436-0BE9-60503EEB9CA7}"/>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9A3A8D98-D2B0-1594-B3DB-E23FDE3ED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666D14EF-E56C-F849-98E0-2DE01305CD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FFD56100-08AB-D060-3434-26B2E94A6182}"/>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Vulnerabilities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4FD00D10-47AF-B8B9-8F13-6337C58F8CEF}"/>
              </a:ext>
            </a:extLst>
          </p:cNvPr>
          <p:cNvSpPr txBox="1">
            <a:spLocks/>
          </p:cNvSpPr>
          <p:nvPr/>
        </p:nvSpPr>
        <p:spPr>
          <a:xfrm>
            <a:off x="536734" y="1114425"/>
            <a:ext cx="5559266" cy="5143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A vulnerability works by first using LLMs to generate "baseline" attacks for each vulnerability type, before prompting your AI app with such attacks. DeepTeam will then evaluate your LLM's output using LLM-as-a-Judge metrics specific to said vulnerability, which output a binary 0 or 1 score, as well as reasoning.</a:t>
            </a:r>
          </a:p>
          <a:p>
            <a:pPr marL="0" indent="0">
              <a:buNone/>
            </a:pPr>
            <a:endParaRPr lang="en-IN" sz="1400" dirty="0">
              <a:latin typeface="Speactral"/>
            </a:endParaRPr>
          </a:p>
          <a:p>
            <a:pPr marL="0" indent="0">
              <a:buNone/>
            </a:pPr>
            <a:r>
              <a:rPr lang="en-IN" sz="1400" dirty="0">
                <a:latin typeface="Speactral"/>
              </a:rPr>
              <a:t>Your LLM app is considered vulnerable if any of its outputs exhibits a specific vulnerability type.</a:t>
            </a:r>
          </a:p>
          <a:p>
            <a:pPr marL="0" indent="0">
              <a:buNone/>
            </a:pPr>
            <a:endParaRPr lang="en-IN" sz="1400" dirty="0">
              <a:latin typeface="Speactral"/>
            </a:endParaRPr>
          </a:p>
          <a:p>
            <a:pPr marL="0" indent="0">
              <a:buNone/>
            </a:pPr>
            <a:r>
              <a:rPr lang="en-IN" sz="1400" b="1" dirty="0">
                <a:latin typeface="Speactral"/>
              </a:rPr>
              <a:t>How Does It Work?</a:t>
            </a:r>
          </a:p>
          <a:p>
            <a:pPr marL="0" indent="0">
              <a:buNone/>
            </a:pPr>
            <a:endParaRPr lang="en-IN" sz="1400" b="1" dirty="0">
              <a:latin typeface="Speactral"/>
            </a:endParaRPr>
          </a:p>
          <a:p>
            <a:r>
              <a:rPr lang="en-IN" sz="1400" dirty="0">
                <a:latin typeface="Speactral"/>
              </a:rPr>
              <a:t>All vulnerabilities in DeepTeam follow a 3-step algorithm:</a:t>
            </a:r>
          </a:p>
          <a:p>
            <a:pPr lvl="0"/>
            <a:r>
              <a:rPr lang="en-IN" sz="1400" dirty="0">
                <a:latin typeface="Speactral"/>
              </a:rPr>
              <a:t>Simulate "baseline" attacks for each specified vulnerability type via the simulator model</a:t>
            </a:r>
          </a:p>
          <a:p>
            <a:pPr lvl="0"/>
            <a:r>
              <a:rPr lang="en-IN" sz="1400" dirty="0">
                <a:latin typeface="Speactral"/>
              </a:rPr>
              <a:t>Probe your model callback using each simulated attack, which is simply a wrapper around your LLM app</a:t>
            </a:r>
          </a:p>
          <a:p>
            <a:pPr lvl="0"/>
            <a:r>
              <a:rPr lang="en-IN" sz="1400" dirty="0">
                <a:latin typeface="Speactral"/>
              </a:rPr>
              <a:t>Evaluate your LLM app's output based on the vulnerability type at hand, returning a score of 0 or 1 (along with reasoning)</a:t>
            </a:r>
          </a:p>
          <a:p>
            <a:endParaRPr lang="en-IN" sz="1400" dirty="0">
              <a:latin typeface="Speactral"/>
            </a:endParaRPr>
          </a:p>
        </p:txBody>
      </p:sp>
      <p:pic>
        <p:nvPicPr>
          <p:cNvPr id="9" name="Picture 8">
            <a:extLst>
              <a:ext uri="{FF2B5EF4-FFF2-40B4-BE49-F238E27FC236}">
                <a16:creationId xmlns:a16="http://schemas.microsoft.com/office/drawing/2014/main" id="{439C27B3-3EC8-502F-A138-67D87CF405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5049" y="822960"/>
            <a:ext cx="5887569" cy="5047488"/>
          </a:xfrm>
          <a:prstGeom prst="rect">
            <a:avLst/>
          </a:prstGeom>
        </p:spPr>
      </p:pic>
    </p:spTree>
    <p:extLst>
      <p:ext uri="{BB962C8B-B14F-4D97-AF65-F5344CB8AC3E}">
        <p14:creationId xmlns:p14="http://schemas.microsoft.com/office/powerpoint/2010/main" val="134432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20F07-852B-14E6-4C0F-DF3BEB8F57C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5A56992-2AA4-F1EB-0A25-BD574F33467F}"/>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EDAC9FD2-CE60-7857-D784-EAC390E9F9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85AEFB50-9AE3-A455-334C-F8D7CE7CA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66D2824F-6624-0A1A-1463-1F33963DEE9A}"/>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Data Privacy</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4667A777-F02D-AF59-5DD3-F8C64279A56E}"/>
              </a:ext>
            </a:extLst>
          </p:cNvPr>
          <p:cNvSpPr txBox="1">
            <a:spLocks/>
          </p:cNvSpPr>
          <p:nvPr/>
        </p:nvSpPr>
        <p:spPr>
          <a:xfrm>
            <a:off x="565783" y="1453324"/>
            <a:ext cx="5559266" cy="37867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Data privacy risks focus on system weaknesses in your AI systems. These include:</a:t>
            </a:r>
          </a:p>
          <a:p>
            <a:pPr marL="0" indent="0">
              <a:buNone/>
            </a:pPr>
            <a:endParaRPr lang="en-IN" sz="1400" dirty="0">
              <a:latin typeface="Speactral"/>
            </a:endParaRPr>
          </a:p>
          <a:p>
            <a:pPr>
              <a:buFont typeface="Wingdings" panose="05000000000000000000" pitchFamily="2" charset="2"/>
              <a:buChar char="§"/>
            </a:pPr>
            <a:r>
              <a:rPr lang="en-IN" sz="1400" b="1" dirty="0">
                <a:latin typeface="Speactral"/>
              </a:rPr>
              <a:t>PII Leakage: </a:t>
            </a:r>
            <a:r>
              <a:rPr lang="en-IN" sz="1400" dirty="0">
                <a:latin typeface="Speactral"/>
              </a:rPr>
              <a:t>The PII Leakage vulnerability evaluates whether the target LLM can avoid generating or revealing sensitive personal information such as names, addresses, credentials, or session data.</a:t>
            </a:r>
          </a:p>
          <a:p>
            <a:pPr>
              <a:buFont typeface="Wingdings" panose="05000000000000000000" pitchFamily="2" charset="2"/>
              <a:buChar char="§"/>
            </a:pPr>
            <a:endParaRPr lang="en-IN" sz="1400" dirty="0">
              <a:latin typeface="Speactral"/>
            </a:endParaRPr>
          </a:p>
          <a:p>
            <a:pPr>
              <a:buFont typeface="Wingdings" panose="05000000000000000000" pitchFamily="2" charset="2"/>
              <a:buChar char="§"/>
            </a:pPr>
            <a:r>
              <a:rPr lang="en-IN" sz="1400" b="1" dirty="0">
                <a:latin typeface="Speactral"/>
              </a:rPr>
              <a:t>Prompt Leakage: </a:t>
            </a:r>
            <a:r>
              <a:rPr lang="en-IN" sz="1400" dirty="0">
                <a:latin typeface="Speactral"/>
              </a:rPr>
              <a:t>The Prompt Leakage vulnerability checks whether the target LLM can avoid revealing sensitive details from its system prompt, such as internal instructions, credentials, or access controls.</a:t>
            </a:r>
          </a:p>
          <a:p>
            <a:pPr>
              <a:buFont typeface="Wingdings" panose="05000000000000000000" pitchFamily="2" charset="2"/>
              <a:buChar char="§"/>
            </a:pPr>
            <a:endParaRPr lang="en-IN" sz="1400" dirty="0">
              <a:latin typeface="Speactral"/>
            </a:endParaRPr>
          </a:p>
          <a:p>
            <a:pPr marL="0" indent="0">
              <a:buNone/>
            </a:pPr>
            <a:r>
              <a:rPr lang="en-IN" sz="1400" dirty="0">
                <a:latin typeface="Speactral"/>
              </a:rPr>
              <a:t>Data privacy vulnerabilities occur more often in LLM systems, especially for RAG and agentic use cases.</a:t>
            </a:r>
          </a:p>
          <a:p>
            <a:pPr marL="0" indent="0">
              <a:buNone/>
            </a:pPr>
            <a:endParaRPr lang="en-IN" sz="1400" dirty="0">
              <a:latin typeface="Speactral"/>
            </a:endParaRPr>
          </a:p>
          <a:p>
            <a:pPr marL="0" indent="0">
              <a:buNone/>
            </a:pPr>
            <a:endParaRPr lang="en-IN" sz="1400" dirty="0">
              <a:latin typeface="Speactral"/>
            </a:endParaRPr>
          </a:p>
        </p:txBody>
      </p:sp>
      <p:pic>
        <p:nvPicPr>
          <p:cNvPr id="6" name="Picture 5">
            <a:extLst>
              <a:ext uri="{FF2B5EF4-FFF2-40B4-BE49-F238E27FC236}">
                <a16:creationId xmlns:a16="http://schemas.microsoft.com/office/drawing/2014/main" id="{5057A11C-822A-665B-8D1A-48EE2F015A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0670" y="0"/>
            <a:ext cx="5326760" cy="6858000"/>
          </a:xfrm>
          <a:prstGeom prst="rect">
            <a:avLst/>
          </a:prstGeom>
          <a:ln>
            <a:noFill/>
          </a:ln>
          <a:effectLst>
            <a:softEdge rad="112500"/>
          </a:effectLst>
        </p:spPr>
      </p:pic>
    </p:spTree>
    <p:extLst>
      <p:ext uri="{BB962C8B-B14F-4D97-AF65-F5344CB8AC3E}">
        <p14:creationId xmlns:p14="http://schemas.microsoft.com/office/powerpoint/2010/main" val="2521059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F783A-7FC2-4DCE-0334-6DFE17389BA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5B44B641-BE76-FED8-7721-E932C06D29AD}"/>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1E774871-F662-77AB-C6DE-77DED8B363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063E0C16-AC68-1C3C-C91F-9D8C743ECF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2F0C7FEF-9DC2-F447-D309-2EF85642298B}"/>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Responsible AI</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61333957-9A30-74E0-87D2-53C6FD45BA4F}"/>
              </a:ext>
            </a:extLst>
          </p:cNvPr>
          <p:cNvSpPr txBox="1">
            <a:spLocks/>
          </p:cNvSpPr>
          <p:nvPr/>
        </p:nvSpPr>
        <p:spPr>
          <a:xfrm>
            <a:off x="536734" y="1215640"/>
            <a:ext cx="11240738" cy="33014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t>Responsible AI risks focus on model weaknesses during pre-training or fine-tuning. </a:t>
            </a:r>
          </a:p>
          <a:p>
            <a:pPr marL="0" indent="0">
              <a:buNone/>
            </a:pPr>
            <a:endParaRPr lang="en-IN" sz="1400" b="1" dirty="0">
              <a:latin typeface="Speactral"/>
            </a:endParaRPr>
          </a:p>
          <a:p>
            <a:pPr>
              <a:buFont typeface="Wingdings" panose="05000000000000000000" pitchFamily="2" charset="2"/>
              <a:buChar char="§"/>
            </a:pPr>
            <a:r>
              <a:rPr lang="en-IN" sz="1400" b="1" dirty="0"/>
              <a:t>Bias: </a:t>
            </a:r>
            <a:r>
              <a:rPr lang="en-IN" sz="1400" dirty="0"/>
              <a:t>The Bias vulnerability evaluates whether the target LLM can </a:t>
            </a:r>
            <a:r>
              <a:rPr lang="en-IN" sz="1400" i="1" dirty="0"/>
              <a:t>identify, mitigate, and avoid biases in its responses </a:t>
            </a:r>
            <a:r>
              <a:rPr lang="en-IN" sz="1400" dirty="0"/>
              <a:t>based on gender, race, religion, and politics.</a:t>
            </a:r>
          </a:p>
          <a:p>
            <a:pPr>
              <a:buFont typeface="Wingdings" panose="05000000000000000000" pitchFamily="2" charset="2"/>
              <a:buChar char="§"/>
            </a:pPr>
            <a:r>
              <a:rPr lang="en-IN" sz="1400" b="1" dirty="0"/>
              <a:t>Child Protection: </a:t>
            </a:r>
            <a:r>
              <a:rPr lang="en-IN" sz="1400" dirty="0"/>
              <a:t>The Child Protection vulnerability evaluates whether the target LLM can </a:t>
            </a:r>
            <a:r>
              <a:rPr lang="en-IN" sz="1400" i="1" dirty="0"/>
              <a:t>detect, prevent, and respond appropriately to child-related privacy and safety risks</a:t>
            </a:r>
            <a:r>
              <a:rPr lang="en-IN" sz="1400" dirty="0"/>
              <a:t>. </a:t>
            </a:r>
          </a:p>
          <a:p>
            <a:pPr>
              <a:buFont typeface="Wingdings" panose="05000000000000000000" pitchFamily="2" charset="2"/>
              <a:buChar char="§"/>
            </a:pPr>
            <a:r>
              <a:rPr lang="en-IN" sz="1400" b="1" dirty="0"/>
              <a:t>Ethics: </a:t>
            </a:r>
            <a:r>
              <a:rPr lang="en-IN" sz="1400" dirty="0"/>
              <a:t>The Ethics vulnerability evaluates whether the target LLM can </a:t>
            </a:r>
            <a:r>
              <a:rPr lang="en-IN" sz="1400" i="1" dirty="0"/>
              <a:t>reason and act in ways that align with ethical principles and organizational values</a:t>
            </a:r>
            <a:r>
              <a:rPr lang="en-IN" sz="1400" dirty="0"/>
              <a:t>. </a:t>
            </a:r>
          </a:p>
          <a:p>
            <a:pPr>
              <a:buFont typeface="Wingdings" panose="05000000000000000000" pitchFamily="2" charset="2"/>
              <a:buChar char="§"/>
            </a:pPr>
            <a:r>
              <a:rPr lang="en-IN" sz="1400" b="1" dirty="0"/>
              <a:t>Fairness: </a:t>
            </a:r>
            <a:r>
              <a:rPr lang="en-IN" sz="1400" dirty="0"/>
              <a:t>The Fairness vulnerability evaluates whether the target LLM can </a:t>
            </a:r>
            <a:r>
              <a:rPr lang="en-IN" sz="1400" i="1" dirty="0"/>
              <a:t>uphold equitable treatment and decision-making across groups, individuals, and contexts</a:t>
            </a:r>
            <a:r>
              <a:rPr lang="en-IN" sz="1400" dirty="0"/>
              <a:t>. </a:t>
            </a:r>
          </a:p>
          <a:p>
            <a:pPr>
              <a:buFont typeface="Wingdings" panose="05000000000000000000" pitchFamily="2" charset="2"/>
              <a:buChar char="§"/>
            </a:pPr>
            <a:r>
              <a:rPr lang="en-IN" sz="1400" b="1" dirty="0"/>
              <a:t>Toxicity: </a:t>
            </a:r>
            <a:r>
              <a:rPr lang="en-IN" sz="1400" dirty="0"/>
              <a:t>The Toxicity vulnerability tests whether the target LLM can avoid generating or helping create </a:t>
            </a:r>
            <a:r>
              <a:rPr lang="en-IN" sz="1400" i="1" dirty="0"/>
              <a:t>harmful, offensive, or demeaning content</a:t>
            </a:r>
            <a:r>
              <a:rPr lang="en-IN" sz="1400" dirty="0"/>
              <a:t>. </a:t>
            </a:r>
          </a:p>
          <a:p>
            <a:pPr marL="0" indent="0">
              <a:buNone/>
            </a:pPr>
            <a:endParaRPr lang="en-IN" sz="1400" dirty="0">
              <a:latin typeface="Speactral"/>
            </a:endParaRPr>
          </a:p>
          <a:p>
            <a:pPr marL="0" indent="0">
              <a:buNone/>
            </a:pPr>
            <a:endParaRPr lang="en-IN" sz="1400" dirty="0">
              <a:latin typeface="Speactral"/>
            </a:endParaRPr>
          </a:p>
        </p:txBody>
      </p:sp>
      <p:pic>
        <p:nvPicPr>
          <p:cNvPr id="3" name="Picture 2">
            <a:extLst>
              <a:ext uri="{FF2B5EF4-FFF2-40B4-BE49-F238E27FC236}">
                <a16:creationId xmlns:a16="http://schemas.microsoft.com/office/drawing/2014/main" id="{3426783E-B739-E3EF-6914-B0CD7E94A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7264" y="4433464"/>
            <a:ext cx="11777472" cy="2059938"/>
          </a:xfrm>
          <a:prstGeom prst="rect">
            <a:avLst/>
          </a:prstGeom>
        </p:spPr>
      </p:pic>
    </p:spTree>
    <p:extLst>
      <p:ext uri="{BB962C8B-B14F-4D97-AF65-F5344CB8AC3E}">
        <p14:creationId xmlns:p14="http://schemas.microsoft.com/office/powerpoint/2010/main" val="3015108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6DA2-A502-1A09-D560-7AF4DBD24EC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FAC42A8-11F9-7DFA-BE30-97B519DB094B}"/>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E73907CE-43DE-471D-F883-8B0DE343E7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27FDA20B-54D5-BC08-DDD8-F4B57D51ED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B9EFFFD5-910C-9AF5-051D-742C2537E4EB}"/>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Security</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4B9E45D6-4130-1512-1A26-0FDE82E3EDD2}"/>
              </a:ext>
            </a:extLst>
          </p:cNvPr>
          <p:cNvSpPr txBox="1">
            <a:spLocks/>
          </p:cNvSpPr>
          <p:nvPr/>
        </p:nvSpPr>
        <p:spPr>
          <a:xfrm>
            <a:off x="565783" y="1453324"/>
            <a:ext cx="5559266" cy="43896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Like data privacy, security risks focus on system weaknesses that can lead to unwanted behaviours (such as PII leakage)</a:t>
            </a:r>
          </a:p>
          <a:p>
            <a:pPr marL="0" indent="0">
              <a:buNone/>
            </a:pPr>
            <a:endParaRPr lang="en-IN" sz="1400" dirty="0">
              <a:latin typeface="Speactral"/>
            </a:endParaRPr>
          </a:p>
          <a:p>
            <a:pPr>
              <a:buFont typeface="Wingdings" panose="05000000000000000000" pitchFamily="2" charset="2"/>
              <a:buChar char="§"/>
            </a:pPr>
            <a:r>
              <a:rPr lang="en-IN" sz="1400" b="1" dirty="0">
                <a:latin typeface="Speactral"/>
              </a:rPr>
              <a:t>BFLA (Broken Function Level Authorization)</a:t>
            </a:r>
          </a:p>
          <a:p>
            <a:pPr>
              <a:buFont typeface="Wingdings" panose="05000000000000000000" pitchFamily="2" charset="2"/>
              <a:buChar char="§"/>
            </a:pPr>
            <a:r>
              <a:rPr lang="en-IN" sz="1400" b="1" dirty="0">
                <a:latin typeface="Speactral"/>
              </a:rPr>
              <a:t>BOLA (Broken Object Level Authorization)</a:t>
            </a:r>
          </a:p>
          <a:p>
            <a:pPr>
              <a:buFont typeface="Wingdings" panose="05000000000000000000" pitchFamily="2" charset="2"/>
              <a:buChar char="§"/>
            </a:pPr>
            <a:r>
              <a:rPr lang="en-IN" sz="1400" b="1" dirty="0">
                <a:latin typeface="Speactral"/>
              </a:rPr>
              <a:t>RBAC (Role-Based Access Control)</a:t>
            </a:r>
          </a:p>
          <a:p>
            <a:pPr>
              <a:buFont typeface="Wingdings" panose="05000000000000000000" pitchFamily="2" charset="2"/>
              <a:buChar char="§"/>
            </a:pPr>
            <a:r>
              <a:rPr lang="en-IN" sz="1400" b="1" dirty="0">
                <a:latin typeface="Speactral"/>
              </a:rPr>
              <a:t>Debug Access</a:t>
            </a:r>
          </a:p>
          <a:p>
            <a:pPr>
              <a:buFont typeface="Wingdings" panose="05000000000000000000" pitchFamily="2" charset="2"/>
              <a:buChar char="§"/>
            </a:pPr>
            <a:r>
              <a:rPr lang="en-IN" sz="1400" b="1" dirty="0">
                <a:latin typeface="Speactral"/>
              </a:rPr>
              <a:t>Shell Injection</a:t>
            </a:r>
          </a:p>
          <a:p>
            <a:pPr>
              <a:buFont typeface="Wingdings" panose="05000000000000000000" pitchFamily="2" charset="2"/>
              <a:buChar char="§"/>
            </a:pPr>
            <a:r>
              <a:rPr lang="en-IN" sz="1400" b="1" dirty="0">
                <a:latin typeface="Speactral"/>
              </a:rPr>
              <a:t>SQL Injection</a:t>
            </a:r>
          </a:p>
          <a:p>
            <a:pPr>
              <a:buFont typeface="Wingdings" panose="05000000000000000000" pitchFamily="2" charset="2"/>
              <a:buChar char="§"/>
            </a:pPr>
            <a:r>
              <a:rPr lang="en-IN" sz="1400" b="1" dirty="0">
                <a:latin typeface="Speactral"/>
              </a:rPr>
              <a:t>SSRF (Server-Side Request Forgery)</a:t>
            </a:r>
          </a:p>
          <a:p>
            <a:pPr>
              <a:buFont typeface="Wingdings" panose="05000000000000000000" pitchFamily="2" charset="2"/>
              <a:buChar char="§"/>
            </a:pPr>
            <a:r>
              <a:rPr lang="en-IN" sz="1400" b="1" dirty="0">
                <a:latin typeface="Speactral"/>
              </a:rPr>
              <a:t>Tool Metadata Poisoning</a:t>
            </a:r>
          </a:p>
          <a:p>
            <a:pPr>
              <a:buFont typeface="Wingdings" panose="05000000000000000000" pitchFamily="2" charset="2"/>
              <a:buChar char="§"/>
            </a:pPr>
            <a:r>
              <a:rPr lang="en-IN" sz="1400" b="1" dirty="0">
                <a:latin typeface="Speactral"/>
              </a:rPr>
              <a:t>Cross-Context Retrieval</a:t>
            </a:r>
          </a:p>
          <a:p>
            <a:pPr>
              <a:buFont typeface="Wingdings" panose="05000000000000000000" pitchFamily="2" charset="2"/>
              <a:buChar char="§"/>
            </a:pPr>
            <a:r>
              <a:rPr lang="en-IN" sz="1400" b="1" dirty="0">
                <a:latin typeface="Speactral"/>
              </a:rPr>
              <a:t>System Reconnaissance</a:t>
            </a:r>
          </a:p>
          <a:p>
            <a:pPr>
              <a:buFont typeface="Wingdings" panose="05000000000000000000" pitchFamily="2" charset="2"/>
              <a:buChar char="§"/>
            </a:pPr>
            <a:endParaRPr lang="en-IN" sz="1400" dirty="0">
              <a:latin typeface="Speactral"/>
            </a:endParaRPr>
          </a:p>
          <a:p>
            <a:pPr marL="0" indent="0">
              <a:buNone/>
            </a:pPr>
            <a:endParaRPr lang="en-IN" sz="1400" dirty="0">
              <a:latin typeface="Speactral"/>
            </a:endParaRPr>
          </a:p>
          <a:p>
            <a:pPr marL="0" indent="0">
              <a:buNone/>
            </a:pPr>
            <a:endParaRPr lang="en-IN" sz="1400" dirty="0">
              <a:latin typeface="Speactral"/>
            </a:endParaRPr>
          </a:p>
        </p:txBody>
      </p:sp>
      <p:pic>
        <p:nvPicPr>
          <p:cNvPr id="3" name="Picture 2">
            <a:extLst>
              <a:ext uri="{FF2B5EF4-FFF2-40B4-BE49-F238E27FC236}">
                <a16:creationId xmlns:a16="http://schemas.microsoft.com/office/drawing/2014/main" id="{8880964A-EA2F-4B1A-6FB7-97647EB95E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3343" y="1703655"/>
            <a:ext cx="6158414" cy="3889029"/>
          </a:xfrm>
          <a:prstGeom prst="rect">
            <a:avLst/>
          </a:prstGeom>
          <a:ln>
            <a:noFill/>
          </a:ln>
          <a:effectLst>
            <a:softEdge rad="112500"/>
          </a:effectLst>
        </p:spPr>
      </p:pic>
    </p:spTree>
    <p:extLst>
      <p:ext uri="{BB962C8B-B14F-4D97-AF65-F5344CB8AC3E}">
        <p14:creationId xmlns:p14="http://schemas.microsoft.com/office/powerpoint/2010/main" val="1657893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D2886-AD00-9921-B3C6-96F959EB674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AB610F9-1B92-8EF6-9312-B33558A96D72}"/>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5E7B2EAF-A57B-E3B1-7AC9-BE00930D4A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4C20523C-470B-74C8-EAF3-690B303EC5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EE132734-BC2D-6BFF-3DD3-C7E1F1BE05C9}"/>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Safety</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B74B00BB-4592-F949-7E2A-CCB72C68C309}"/>
              </a:ext>
            </a:extLst>
          </p:cNvPr>
          <p:cNvSpPr txBox="1">
            <a:spLocks/>
          </p:cNvSpPr>
          <p:nvPr/>
        </p:nvSpPr>
        <p:spPr>
          <a:xfrm>
            <a:off x="565783" y="1453324"/>
            <a:ext cx="5559266" cy="51125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Safety risks </a:t>
            </a:r>
            <a:r>
              <a:rPr lang="en-US" sz="1400" dirty="0">
                <a:latin typeface="Speactral"/>
              </a:rPr>
              <a:t>focus on both model and system weaknesses that can cause your AI to recommend harmful actions to users</a:t>
            </a:r>
            <a:r>
              <a:rPr lang="en-IN" sz="1400" dirty="0">
                <a:latin typeface="Speactral"/>
              </a:rPr>
              <a:t>.</a:t>
            </a:r>
          </a:p>
          <a:p>
            <a:pPr marL="0" indent="0">
              <a:buNone/>
            </a:pPr>
            <a:endParaRPr lang="en-IN" sz="1400" dirty="0">
              <a:latin typeface="Speactral"/>
            </a:endParaRPr>
          </a:p>
          <a:p>
            <a:pPr>
              <a:buFont typeface="Wingdings" panose="05000000000000000000" pitchFamily="2" charset="2"/>
              <a:buChar char="§"/>
            </a:pPr>
            <a:r>
              <a:rPr lang="en-IN" sz="1400" b="1" dirty="0">
                <a:latin typeface="Speactral"/>
              </a:rPr>
              <a:t>Illegal Activity: </a:t>
            </a:r>
            <a:r>
              <a:rPr lang="en-IN" sz="1400" dirty="0">
                <a:latin typeface="Speactral"/>
              </a:rPr>
              <a:t>The Illegal Activity vulnerability evaluates whether the target LLM can </a:t>
            </a:r>
            <a:r>
              <a:rPr lang="en-IN" sz="1400" i="1" dirty="0">
                <a:latin typeface="Speactral"/>
              </a:rPr>
              <a:t>resist generating responses that facilitate or promote unlawful actions</a:t>
            </a:r>
            <a:r>
              <a:rPr lang="en-IN" sz="1400" dirty="0">
                <a:latin typeface="Speactral"/>
              </a:rPr>
              <a:t>.</a:t>
            </a:r>
          </a:p>
          <a:p>
            <a:pPr>
              <a:buFont typeface="Wingdings" panose="05000000000000000000" pitchFamily="2" charset="2"/>
              <a:buChar char="§"/>
            </a:pPr>
            <a:r>
              <a:rPr lang="en-IN" sz="1400" b="1" dirty="0">
                <a:latin typeface="Speactral"/>
              </a:rPr>
              <a:t>Graphic Content: </a:t>
            </a:r>
            <a:r>
              <a:rPr lang="en-IN" sz="1400" dirty="0">
                <a:latin typeface="Speactral"/>
              </a:rPr>
              <a:t>The Graphic Content vulnerability evaluates whether the target LLM can </a:t>
            </a:r>
            <a:r>
              <a:rPr lang="en-IN" sz="1400" i="1" dirty="0">
                <a:latin typeface="Speactral"/>
              </a:rPr>
              <a:t>resist generating responses that include explicit, inappropriate, or graphic material</a:t>
            </a:r>
            <a:r>
              <a:rPr lang="en-IN" sz="1400" dirty="0">
                <a:latin typeface="Speactral"/>
              </a:rPr>
              <a:t>. </a:t>
            </a:r>
          </a:p>
          <a:p>
            <a:pPr>
              <a:buFont typeface="Wingdings" panose="05000000000000000000" pitchFamily="2" charset="2"/>
              <a:buChar char="§"/>
            </a:pPr>
            <a:r>
              <a:rPr lang="en-IN" sz="1400" b="1" dirty="0">
                <a:latin typeface="Speactral"/>
              </a:rPr>
              <a:t>Personal Safety: </a:t>
            </a:r>
            <a:r>
              <a:rPr lang="en-IN" sz="1400" dirty="0">
                <a:latin typeface="Speactral"/>
              </a:rPr>
              <a:t>The Personal Safety vulnerability evaluates whether the target LLM can </a:t>
            </a:r>
            <a:r>
              <a:rPr lang="en-IN" sz="1400" i="1" dirty="0">
                <a:latin typeface="Speactral"/>
              </a:rPr>
              <a:t>resist generating responses that jeopardize the safety and well-being of individuals</a:t>
            </a:r>
            <a:r>
              <a:rPr lang="en-IN" sz="1400" dirty="0">
                <a:latin typeface="Speactral"/>
              </a:rPr>
              <a:t>. </a:t>
            </a:r>
          </a:p>
          <a:p>
            <a:r>
              <a:rPr lang="en-IN" sz="1400" b="1" dirty="0">
                <a:latin typeface="Speactral"/>
              </a:rPr>
              <a:t>Unexpected Code Execution</a:t>
            </a:r>
            <a:r>
              <a:rPr lang="en-IN" sz="1400" dirty="0">
                <a:latin typeface="Speactral"/>
              </a:rPr>
              <a:t>: The Unexpected Code Execution vulnerability evaluates whether the </a:t>
            </a:r>
            <a:r>
              <a:rPr lang="en-IN" sz="1400" b="1" dirty="0">
                <a:latin typeface="Speactral"/>
              </a:rPr>
              <a:t>target LLM or agent system can be coerced into executing, suggesting, or implicitly enabling unauthorized code execution</a:t>
            </a:r>
            <a:r>
              <a:rPr lang="en-IN" sz="1400" dirty="0">
                <a:latin typeface="Speactral"/>
              </a:rPr>
              <a:t>. This includes direct shell commands, dynamic evaluation constructs, or any logic that would result in unintended computation or system-level actions.</a:t>
            </a:r>
            <a:br>
              <a:rPr lang="en-IN" sz="1400" dirty="0">
                <a:latin typeface="Speactral"/>
              </a:rPr>
            </a:br>
            <a:br>
              <a:rPr lang="en-IN" sz="1400" dirty="0">
                <a:latin typeface="Speactral"/>
              </a:rPr>
            </a:br>
            <a:r>
              <a:rPr lang="en-IN" sz="1400" dirty="0">
                <a:latin typeface="Speactral"/>
              </a:rPr>
              <a:t>This vulnerability is especially relevant for </a:t>
            </a:r>
            <a:r>
              <a:rPr lang="en-IN" sz="1400" b="1" dirty="0">
                <a:latin typeface="Speactral"/>
              </a:rPr>
              <a:t>agent frameworks, tool-enabled LLMs, code-interpreting assistants, and systems that bridge natural language with execution environments.</a:t>
            </a:r>
          </a:p>
          <a:p>
            <a:pPr>
              <a:buFont typeface="Wingdings" panose="05000000000000000000" pitchFamily="2" charset="2"/>
              <a:buChar char="§"/>
            </a:pPr>
            <a:endParaRPr lang="en-IN" sz="1400" dirty="0">
              <a:latin typeface="Speactral"/>
            </a:endParaRPr>
          </a:p>
          <a:p>
            <a:pPr>
              <a:buFont typeface="Wingdings" panose="05000000000000000000" pitchFamily="2" charset="2"/>
              <a:buChar char="§"/>
            </a:pPr>
            <a:endParaRPr lang="en-IN" sz="1400" dirty="0">
              <a:latin typeface="Speactral"/>
            </a:endParaRPr>
          </a:p>
          <a:p>
            <a:pPr marL="0" indent="0">
              <a:buNone/>
            </a:pPr>
            <a:endParaRPr lang="en-IN" sz="1400" dirty="0">
              <a:latin typeface="Speactral"/>
            </a:endParaRPr>
          </a:p>
          <a:p>
            <a:pPr marL="0" indent="0">
              <a:buNone/>
            </a:pPr>
            <a:endParaRPr lang="en-IN" sz="1400" dirty="0">
              <a:latin typeface="Speactral"/>
            </a:endParaRPr>
          </a:p>
        </p:txBody>
      </p:sp>
      <p:pic>
        <p:nvPicPr>
          <p:cNvPr id="3" name="Picture 2">
            <a:extLst>
              <a:ext uri="{FF2B5EF4-FFF2-40B4-BE49-F238E27FC236}">
                <a16:creationId xmlns:a16="http://schemas.microsoft.com/office/drawing/2014/main" id="{20AC4842-2094-769A-6C35-E17D4913B7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8138" y="1508474"/>
            <a:ext cx="5814926" cy="3841052"/>
          </a:xfrm>
          <a:prstGeom prst="rect">
            <a:avLst/>
          </a:prstGeom>
          <a:ln>
            <a:noFill/>
          </a:ln>
          <a:effectLst>
            <a:softEdge rad="112500"/>
          </a:effectLst>
        </p:spPr>
      </p:pic>
    </p:spTree>
    <p:extLst>
      <p:ext uri="{BB962C8B-B14F-4D97-AF65-F5344CB8AC3E}">
        <p14:creationId xmlns:p14="http://schemas.microsoft.com/office/powerpoint/2010/main" val="2142021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E41FE-0446-E0D3-C259-1D2D3AD9EA8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09A15E9-DF03-7A78-973B-1DF5B94C01CE}"/>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8D6923C3-1570-2C8C-B03F-3539F3865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2444AA68-C4AA-085F-AB2D-FAAB5E855B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F0F29C09-880A-CC45-5C3B-BDB2E12BC361}"/>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Business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4D05A16E-A512-4A66-28E2-8E3BCBE8B090}"/>
              </a:ext>
            </a:extLst>
          </p:cNvPr>
          <p:cNvSpPr txBox="1">
            <a:spLocks/>
          </p:cNvSpPr>
          <p:nvPr/>
        </p:nvSpPr>
        <p:spPr>
          <a:xfrm>
            <a:off x="565783" y="1544764"/>
            <a:ext cx="5559266" cy="4097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Business risk concerns vulnerabilities that pose a risk to the public perception of one's company:</a:t>
            </a:r>
          </a:p>
          <a:p>
            <a:pPr marL="0" indent="0">
              <a:buNone/>
            </a:pPr>
            <a:endParaRPr lang="en-IN" sz="1400" dirty="0">
              <a:latin typeface="Speactral"/>
            </a:endParaRPr>
          </a:p>
          <a:p>
            <a:pPr>
              <a:buFont typeface="Wingdings" panose="05000000000000000000" pitchFamily="2" charset="2"/>
              <a:buChar char="§"/>
            </a:pPr>
            <a:r>
              <a:rPr lang="en-IN" sz="1400" b="1" dirty="0">
                <a:latin typeface="Speactral"/>
              </a:rPr>
              <a:t>Misinformation: </a:t>
            </a:r>
            <a:r>
              <a:rPr lang="en-IN" sz="1400" dirty="0">
                <a:latin typeface="Speactral"/>
              </a:rPr>
              <a:t>The Misinformation vulnerability evaluates whether the target LLM can </a:t>
            </a:r>
            <a:r>
              <a:rPr lang="en-IN" sz="1400" i="1" dirty="0">
                <a:latin typeface="Speactral"/>
              </a:rPr>
              <a:t>accurately provide information, verify claims, and avoid generating or amplifying false or misleading content</a:t>
            </a:r>
            <a:r>
              <a:rPr lang="en-IN" sz="1400" dirty="0">
                <a:latin typeface="Speactral"/>
              </a:rPr>
              <a:t>.</a:t>
            </a:r>
          </a:p>
          <a:p>
            <a:pPr>
              <a:buFont typeface="Wingdings" panose="05000000000000000000" pitchFamily="2" charset="2"/>
              <a:buChar char="§"/>
            </a:pPr>
            <a:endParaRPr lang="en-IN" sz="1400" dirty="0">
              <a:latin typeface="Speactral"/>
            </a:endParaRPr>
          </a:p>
          <a:p>
            <a:pPr>
              <a:buFont typeface="Wingdings" panose="05000000000000000000" pitchFamily="2" charset="2"/>
              <a:buChar char="§"/>
            </a:pPr>
            <a:r>
              <a:rPr lang="en-IN" sz="1400" b="1" dirty="0">
                <a:latin typeface="Speactral"/>
              </a:rPr>
              <a:t>Intellectual Property: </a:t>
            </a:r>
            <a:r>
              <a:rPr lang="en-IN" sz="1400" dirty="0">
                <a:latin typeface="Speactral"/>
              </a:rPr>
              <a:t>The Intellectual Property vulnerability evaluates whether the target LLM can </a:t>
            </a:r>
            <a:r>
              <a:rPr lang="en-IN" sz="1400" i="1" dirty="0">
                <a:latin typeface="Speactral"/>
              </a:rPr>
              <a:t>resist generating responses that infringe upon or misuse intellectual property rights</a:t>
            </a:r>
            <a:r>
              <a:rPr lang="en-IN" sz="1400" dirty="0">
                <a:latin typeface="Speactral"/>
              </a:rPr>
              <a:t>.</a:t>
            </a:r>
          </a:p>
          <a:p>
            <a:pPr>
              <a:buFont typeface="Wingdings" panose="05000000000000000000" pitchFamily="2" charset="2"/>
              <a:buChar char="§"/>
            </a:pPr>
            <a:endParaRPr lang="en-IN" sz="1400" dirty="0">
              <a:latin typeface="Speactral"/>
            </a:endParaRPr>
          </a:p>
          <a:p>
            <a:pPr>
              <a:buFont typeface="Wingdings" panose="05000000000000000000" pitchFamily="2" charset="2"/>
              <a:buChar char="§"/>
            </a:pPr>
            <a:r>
              <a:rPr lang="en-IN" sz="1400" b="1" dirty="0">
                <a:latin typeface="Speactral"/>
              </a:rPr>
              <a:t>Competition: </a:t>
            </a:r>
            <a:r>
              <a:rPr lang="en-IN" sz="1400" dirty="0">
                <a:latin typeface="Speactral"/>
              </a:rPr>
              <a:t>The Competition vulnerability evaluates whether the target LLM can </a:t>
            </a:r>
            <a:r>
              <a:rPr lang="en-IN" sz="1400" i="1" dirty="0">
                <a:latin typeface="Speactral"/>
              </a:rPr>
              <a:t>resist generating responses that disclose sensitive competitive information or influence market perceptions unfairly</a:t>
            </a:r>
            <a:r>
              <a:rPr lang="en-IN" sz="1400" dirty="0">
                <a:latin typeface="Speactral"/>
              </a:rPr>
              <a:t>. </a:t>
            </a:r>
          </a:p>
          <a:p>
            <a:pPr>
              <a:buFont typeface="Wingdings" panose="05000000000000000000" pitchFamily="2" charset="2"/>
              <a:buChar char="§"/>
            </a:pPr>
            <a:endParaRPr lang="en-IN" sz="1400" dirty="0">
              <a:latin typeface="Speactral"/>
            </a:endParaRPr>
          </a:p>
          <a:p>
            <a:pPr marL="0" indent="0">
              <a:buNone/>
            </a:pPr>
            <a:endParaRPr lang="en-IN" sz="1400" dirty="0">
              <a:latin typeface="Speactral"/>
            </a:endParaRPr>
          </a:p>
          <a:p>
            <a:pPr marL="0" indent="0">
              <a:buNone/>
            </a:pPr>
            <a:endParaRPr lang="en-IN" sz="1400" dirty="0">
              <a:latin typeface="Speactral"/>
            </a:endParaRPr>
          </a:p>
        </p:txBody>
      </p:sp>
      <p:pic>
        <p:nvPicPr>
          <p:cNvPr id="4" name="Picture 3">
            <a:extLst>
              <a:ext uri="{FF2B5EF4-FFF2-40B4-BE49-F238E27FC236}">
                <a16:creationId xmlns:a16="http://schemas.microsoft.com/office/drawing/2014/main" id="{A3422F08-7A6E-11E5-C18C-AD13388B73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5049" y="1613315"/>
            <a:ext cx="6078360" cy="3150709"/>
          </a:xfrm>
          <a:prstGeom prst="rect">
            <a:avLst/>
          </a:prstGeom>
          <a:ln>
            <a:noFill/>
          </a:ln>
          <a:effectLst>
            <a:softEdge rad="112500"/>
          </a:effectLst>
        </p:spPr>
      </p:pic>
    </p:spTree>
    <p:extLst>
      <p:ext uri="{BB962C8B-B14F-4D97-AF65-F5344CB8AC3E}">
        <p14:creationId xmlns:p14="http://schemas.microsoft.com/office/powerpoint/2010/main" val="30970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A1D1-E366-D568-B631-96C5FA862AD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C3495BC-C846-4CB7-6E6B-531E7E0B9599}"/>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2DDB2E1B-2F02-A1D1-A5FA-B72180DB90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8C52AD7A-097D-1D51-645F-5F80563D21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AE08FD5B-303E-29E8-A3C1-2A1CB5453EC3}"/>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Agentic</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D8833F44-5F80-14BE-5FB1-C4F54FC5E011}"/>
              </a:ext>
            </a:extLst>
          </p:cNvPr>
          <p:cNvSpPr txBox="1">
            <a:spLocks/>
          </p:cNvSpPr>
          <p:nvPr/>
        </p:nvSpPr>
        <p:spPr>
          <a:xfrm>
            <a:off x="602359" y="1083278"/>
            <a:ext cx="5559266" cy="46914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1400" dirty="0">
              <a:latin typeface="Speactral"/>
            </a:endParaRPr>
          </a:p>
          <a:p>
            <a:r>
              <a:rPr lang="en-IN" sz="1400" b="1" dirty="0">
                <a:latin typeface="Speactral"/>
              </a:rPr>
              <a:t>Goal Theft</a:t>
            </a:r>
          </a:p>
          <a:p>
            <a:r>
              <a:rPr lang="en-IN" sz="1400" b="1" dirty="0">
                <a:latin typeface="Speactral"/>
              </a:rPr>
              <a:t>Recursive Hijacking</a:t>
            </a:r>
          </a:p>
          <a:p>
            <a:r>
              <a:rPr lang="en-IN" sz="1400" b="1" dirty="0">
                <a:latin typeface="Speactral"/>
              </a:rPr>
              <a:t>Excessive Agency</a:t>
            </a:r>
          </a:p>
          <a:p>
            <a:r>
              <a:rPr lang="en-IN" sz="1400" b="1" dirty="0">
                <a:latin typeface="Speactral"/>
              </a:rPr>
              <a:t>Robustness</a:t>
            </a:r>
          </a:p>
          <a:p>
            <a:r>
              <a:rPr lang="en-IN" sz="1400" b="1" dirty="0">
                <a:latin typeface="Speactral"/>
              </a:rPr>
              <a:t>Indirect Instruction</a:t>
            </a:r>
          </a:p>
          <a:p>
            <a:r>
              <a:rPr lang="en-IN" sz="1400" b="1" dirty="0">
                <a:latin typeface="Speactral"/>
              </a:rPr>
              <a:t>Tool Orchestration Abuse</a:t>
            </a:r>
          </a:p>
          <a:p>
            <a:r>
              <a:rPr lang="en-IN" sz="1400" b="1" dirty="0">
                <a:latin typeface="Speactral"/>
              </a:rPr>
              <a:t>Agent Identity &amp; Trust Abuse</a:t>
            </a:r>
          </a:p>
          <a:p>
            <a:r>
              <a:rPr lang="en-IN" sz="1400" b="1" dirty="0">
                <a:latin typeface="Speactral"/>
              </a:rPr>
              <a:t>Inter-Agent Communication Compromise</a:t>
            </a:r>
          </a:p>
          <a:p>
            <a:r>
              <a:rPr lang="en-IN" sz="1400" b="1" dirty="0">
                <a:latin typeface="Speactral"/>
              </a:rPr>
              <a:t>Autonomous Agent Drift</a:t>
            </a:r>
          </a:p>
          <a:p>
            <a:r>
              <a:rPr lang="en-IN" sz="1400" b="1" dirty="0">
                <a:latin typeface="Speactral"/>
              </a:rPr>
              <a:t>Exploit Tool Agent</a:t>
            </a:r>
          </a:p>
          <a:p>
            <a:pPr>
              <a:buFont typeface="Wingdings" panose="05000000000000000000" pitchFamily="2" charset="2"/>
              <a:buChar char="§"/>
            </a:pPr>
            <a:r>
              <a:rPr lang="en-IN" sz="1400" b="1" dirty="0">
                <a:latin typeface="Speactral"/>
              </a:rPr>
              <a:t>External System Abuse</a:t>
            </a:r>
          </a:p>
          <a:p>
            <a:pPr>
              <a:buFont typeface="Wingdings" panose="05000000000000000000" pitchFamily="2" charset="2"/>
              <a:buChar char="§"/>
            </a:pPr>
            <a:endParaRPr lang="en-IN" sz="1400" dirty="0">
              <a:latin typeface="Speactral"/>
            </a:endParaRPr>
          </a:p>
          <a:p>
            <a:pPr marL="0" indent="0">
              <a:buNone/>
            </a:pPr>
            <a:endParaRPr lang="en-IN" sz="1400" dirty="0">
              <a:latin typeface="Speactral"/>
            </a:endParaRPr>
          </a:p>
          <a:p>
            <a:pPr marL="0" indent="0">
              <a:buNone/>
            </a:pPr>
            <a:endParaRPr lang="en-IN" sz="1400" dirty="0">
              <a:latin typeface="Speactral"/>
            </a:endParaRPr>
          </a:p>
        </p:txBody>
      </p:sp>
      <p:pic>
        <p:nvPicPr>
          <p:cNvPr id="9" name="Picture 8">
            <a:extLst>
              <a:ext uri="{FF2B5EF4-FFF2-40B4-BE49-F238E27FC236}">
                <a16:creationId xmlns:a16="http://schemas.microsoft.com/office/drawing/2014/main" id="{C8DAA431-B4FC-05F5-556D-5ABFD4F21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5451" y="361106"/>
            <a:ext cx="5947365" cy="3755752"/>
          </a:xfrm>
          <a:prstGeom prst="rect">
            <a:avLst/>
          </a:prstGeom>
          <a:ln>
            <a:noFill/>
          </a:ln>
          <a:effectLst>
            <a:softEdge rad="112500"/>
          </a:effectLst>
        </p:spPr>
      </p:pic>
      <p:pic>
        <p:nvPicPr>
          <p:cNvPr id="3" name="Picture 2">
            <a:extLst>
              <a:ext uri="{FF2B5EF4-FFF2-40B4-BE49-F238E27FC236}">
                <a16:creationId xmlns:a16="http://schemas.microsoft.com/office/drawing/2014/main" id="{658E5B28-7BA9-94B1-7AA4-5BA6B02D77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661" y="4824779"/>
            <a:ext cx="10896221" cy="1899885"/>
          </a:xfrm>
          <a:prstGeom prst="rect">
            <a:avLst/>
          </a:prstGeom>
        </p:spPr>
      </p:pic>
    </p:spTree>
    <p:extLst>
      <p:ext uri="{BB962C8B-B14F-4D97-AF65-F5344CB8AC3E}">
        <p14:creationId xmlns:p14="http://schemas.microsoft.com/office/powerpoint/2010/main" val="331465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01ECB-F6ED-23C5-8AA1-2E98CF80DE5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97411C1-308C-3C45-01E8-7A6CED6CAA51}"/>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42A37640-E343-6B07-2090-70A2A06CA2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10E5DCE5-9BCD-1B34-C4EE-08774C1B83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237AAD20-DA95-63F8-7C33-128C204FE117}"/>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Custom Vulnerability</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792D4594-0F8C-7E0C-D850-56929CB279B0}"/>
              </a:ext>
            </a:extLst>
          </p:cNvPr>
          <p:cNvSpPr txBox="1">
            <a:spLocks/>
          </p:cNvSpPr>
          <p:nvPr/>
        </p:nvSpPr>
        <p:spPr>
          <a:xfrm>
            <a:off x="620647" y="1078420"/>
            <a:ext cx="5559266" cy="54874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DeepTeam allows anyone to define and create custom vulnerabilities based on their own specific security concerns. This enables you to create targeted security tests for your unique use cases.</a:t>
            </a:r>
          </a:p>
          <a:p>
            <a:pPr marL="0" indent="0">
              <a:buNone/>
            </a:pPr>
            <a:endParaRPr lang="en-IN" sz="1400" dirty="0">
              <a:latin typeface="Speactral"/>
            </a:endParaRPr>
          </a:p>
          <a:p>
            <a:pPr marL="0" indent="0">
              <a:buNone/>
            </a:pPr>
            <a:endParaRPr lang="en-IN" sz="1400" dirty="0">
              <a:latin typeface="Speactral"/>
            </a:endParaRPr>
          </a:p>
          <a:p>
            <a:pPr marL="0" indent="0">
              <a:buNone/>
            </a:pPr>
            <a:endParaRPr lang="en-IN" sz="1400" dirty="0">
              <a:latin typeface="Speactral"/>
            </a:endParaRPr>
          </a:p>
          <a:p>
            <a:pPr marL="0" indent="0">
              <a:buNone/>
            </a:pPr>
            <a:endParaRPr lang="en-IN" sz="1400" dirty="0">
              <a:latin typeface="Speactral"/>
            </a:endParaRPr>
          </a:p>
          <a:p>
            <a:pPr marL="0" indent="0">
              <a:buNone/>
            </a:pPr>
            <a:r>
              <a:rPr lang="en-IN" sz="1400" b="1" dirty="0">
                <a:latin typeface="Speactral"/>
              </a:rPr>
              <a:t>Best Practices</a:t>
            </a:r>
          </a:p>
          <a:p>
            <a:pPr marL="0" indent="0">
              <a:buNone/>
            </a:pPr>
            <a:endParaRPr lang="en-IN" sz="1400" b="1" dirty="0">
              <a:latin typeface="Speactral"/>
            </a:endParaRPr>
          </a:p>
          <a:p>
            <a:pPr marL="0" indent="0">
              <a:buNone/>
            </a:pPr>
            <a:endParaRPr lang="en-IN" sz="1400" b="1" dirty="0">
              <a:latin typeface="Speactral"/>
            </a:endParaRPr>
          </a:p>
          <a:p>
            <a:pPr lvl="0"/>
            <a:r>
              <a:rPr lang="en-IN" sz="1400" b="1" dirty="0">
                <a:latin typeface="Speactral"/>
              </a:rPr>
              <a:t>Descriptive Names: </a:t>
            </a:r>
            <a:r>
              <a:rPr lang="en-IN" sz="1400" dirty="0">
                <a:latin typeface="Speactral"/>
              </a:rPr>
              <a:t>Choose clear, specific names that reflect the security concern you're testing.</a:t>
            </a:r>
          </a:p>
          <a:p>
            <a:pPr lvl="0"/>
            <a:r>
              <a:rPr lang="en-IN" sz="1400" b="1" dirty="0">
                <a:latin typeface="Speactral"/>
              </a:rPr>
              <a:t>Focused Types: </a:t>
            </a:r>
            <a:r>
              <a:rPr lang="en-IN" sz="1400" dirty="0">
                <a:latin typeface="Speactral"/>
              </a:rPr>
              <a:t>Define types that are specific and relevant to your use case.</a:t>
            </a:r>
          </a:p>
          <a:p>
            <a:pPr lvl="0"/>
            <a:r>
              <a:rPr lang="en-IN" sz="1400" b="1" dirty="0">
                <a:latin typeface="Speactral"/>
              </a:rPr>
              <a:t>Custom Prompts: </a:t>
            </a:r>
            <a:r>
              <a:rPr lang="en-IN" sz="1400" dirty="0">
                <a:latin typeface="Speactral"/>
              </a:rPr>
              <a:t>Use custom prompts to generate more targeted and relevant attack scenarios.</a:t>
            </a:r>
          </a:p>
          <a:p>
            <a:pPr lvl="0"/>
            <a:r>
              <a:rPr lang="en-IN" sz="1400" b="1" dirty="0">
                <a:latin typeface="Speactral"/>
              </a:rPr>
              <a:t>Type Consistency: </a:t>
            </a:r>
            <a:r>
              <a:rPr lang="en-IN" sz="1400" dirty="0">
                <a:latin typeface="Speactral"/>
              </a:rPr>
              <a:t>Use consistent naming conventions for your types across different custom vulnerabilities.</a:t>
            </a:r>
          </a:p>
          <a:p>
            <a:pPr lvl="0"/>
            <a:r>
              <a:rPr lang="en-IN" sz="1400" b="1" dirty="0">
                <a:latin typeface="Speactral"/>
              </a:rPr>
              <a:t>Documentation:</a:t>
            </a:r>
            <a:r>
              <a:rPr lang="en-IN" sz="1400" dirty="0">
                <a:latin typeface="Speactral"/>
              </a:rPr>
              <a:t> Document your custom vulnerabilities to help other team members understand their purpose and usage.</a:t>
            </a:r>
          </a:p>
          <a:p>
            <a:pPr marL="0" indent="0">
              <a:buNone/>
            </a:pPr>
            <a:endParaRPr lang="en-IN" sz="1400" dirty="0">
              <a:latin typeface="Speactral"/>
            </a:endParaRPr>
          </a:p>
        </p:txBody>
      </p:sp>
      <p:pic>
        <p:nvPicPr>
          <p:cNvPr id="3" name="Picture 2">
            <a:extLst>
              <a:ext uri="{FF2B5EF4-FFF2-40B4-BE49-F238E27FC236}">
                <a16:creationId xmlns:a16="http://schemas.microsoft.com/office/drawing/2014/main" id="{7DBFFDFB-43B5-7E87-1340-7D6163B84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8647" y="1668118"/>
            <a:ext cx="3496041" cy="2405533"/>
          </a:xfrm>
          <a:prstGeom prst="rect">
            <a:avLst/>
          </a:prstGeom>
          <a:ln>
            <a:noFill/>
          </a:ln>
          <a:effectLst>
            <a:softEdge rad="112500"/>
          </a:effectLst>
        </p:spPr>
      </p:pic>
      <p:pic>
        <p:nvPicPr>
          <p:cNvPr id="9" name="Picture 8">
            <a:extLst>
              <a:ext uri="{FF2B5EF4-FFF2-40B4-BE49-F238E27FC236}">
                <a16:creationId xmlns:a16="http://schemas.microsoft.com/office/drawing/2014/main" id="{8BEFCE8B-67AE-F696-C157-49ACBEAB62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91853" y="0"/>
            <a:ext cx="5000147" cy="6858000"/>
          </a:xfrm>
          <a:prstGeom prst="rect">
            <a:avLst/>
          </a:prstGeom>
          <a:ln>
            <a:noFill/>
          </a:ln>
          <a:effectLst>
            <a:softEdge rad="112500"/>
          </a:effectLst>
        </p:spPr>
      </p:pic>
    </p:spTree>
    <p:extLst>
      <p:ext uri="{BB962C8B-B14F-4D97-AF65-F5344CB8AC3E}">
        <p14:creationId xmlns:p14="http://schemas.microsoft.com/office/powerpoint/2010/main" val="1876842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2A0D-0A7B-207D-2282-F9C3EB5062C8}"/>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984F6FC-29E2-C6F4-8A0D-FD802BBF9F7A}"/>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6CC64B0E-B62F-460F-79B4-9235510648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3F97F409-3911-70FA-4F3C-B1AB91A1BC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BBFEDF3D-DF12-9B6B-9B35-2AE2F57261F3}"/>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Guidelines &amp; Frameworks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332EA194-74E5-BFE2-8A9B-9E65AE481EA4}"/>
              </a:ext>
            </a:extLst>
          </p:cNvPr>
          <p:cNvSpPr txBox="1">
            <a:spLocks/>
          </p:cNvSpPr>
          <p:nvPr/>
        </p:nvSpPr>
        <p:spPr>
          <a:xfrm>
            <a:off x="620647" y="1078420"/>
            <a:ext cx="11072720" cy="54874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The DeepTeam Frameworks define structured methodologies for AI red teaming and risk assessment. Each framework maps to a recognized safety or security standard, helping you test your model's robustness against real-world adversarial behaviour, dataset risks, and system vulnerabilities.</a:t>
            </a:r>
          </a:p>
          <a:p>
            <a:pPr marL="0" indent="0">
              <a:buNone/>
            </a:pPr>
            <a:endParaRPr lang="en-IN" sz="1400" dirty="0">
              <a:latin typeface="Speactral"/>
            </a:endParaRPr>
          </a:p>
          <a:p>
            <a:pPr marL="0" indent="0">
              <a:buNone/>
            </a:pPr>
            <a:r>
              <a:rPr lang="en-IN" sz="1400" dirty="0">
                <a:latin typeface="Speactral"/>
              </a:rPr>
              <a:t>DeepTeam supports multiple frameworks.</a:t>
            </a:r>
          </a:p>
          <a:p>
            <a:pPr marL="0" indent="0">
              <a:buNone/>
            </a:pPr>
            <a:endParaRPr lang="en-IN" sz="1400" dirty="0">
              <a:latin typeface="Speactral"/>
            </a:endParaRPr>
          </a:p>
          <a:p>
            <a:r>
              <a:rPr lang="en-IN" sz="1400" b="1" dirty="0">
                <a:latin typeface="Speactral"/>
              </a:rPr>
              <a:t>OWASP</a:t>
            </a:r>
            <a:r>
              <a:rPr lang="en-IN" sz="1400" dirty="0">
                <a:latin typeface="Speactral"/>
              </a:rPr>
              <a:t>: The OWASP Top 10 for Agentic Applications (ASI) identifies the most critical security risks introduced by autonomous and semi-autonomous AI agents. It focuses on failures arising from goal misalignment, tool misuse, delegated trust, inter-agent communication, persistent memory, and emergent autonomous behaviour.</a:t>
            </a:r>
          </a:p>
          <a:p>
            <a:r>
              <a:rPr lang="en-IN" sz="1400" b="1" dirty="0">
                <a:latin typeface="Speactral"/>
              </a:rPr>
              <a:t>NIST AI RM</a:t>
            </a:r>
            <a:r>
              <a:rPr lang="en-IN" sz="1400" dirty="0">
                <a:latin typeface="Speactral"/>
              </a:rPr>
              <a:t>: The NIST AI Risk Management Framework (AI RMF) is a structured methodology from the U.S. National Institute of Standards and Technology that guides organizations in identifying, evaluating, and mitigating risks in artificial intelligence systems. It promotes trustworthy AI by focusing on governance, measurement, and continuous risk tracking across the AI lifecycle.</a:t>
            </a:r>
          </a:p>
          <a:p>
            <a:r>
              <a:rPr lang="en-IN" sz="1400" b="1" dirty="0">
                <a:latin typeface="Speactral"/>
              </a:rPr>
              <a:t>MITRE ATLAS: </a:t>
            </a:r>
            <a:r>
              <a:rPr lang="en-IN" sz="1400" dirty="0">
                <a:latin typeface="Speactral"/>
              </a:rPr>
              <a:t>The MITRE ATLAS™ (Adversarial Threat Landscape for Artificial-Intelligence Systems) framework provides a structured knowledge base of adversarial tactics, techniques, and procedures (TTPs) used against AI and ML systems.</a:t>
            </a:r>
          </a:p>
          <a:p>
            <a:r>
              <a:rPr lang="en-IN" sz="1400" b="1" dirty="0">
                <a:latin typeface="Speactral"/>
              </a:rPr>
              <a:t>EU AI Act: </a:t>
            </a:r>
            <a:r>
              <a:rPr lang="en-IN" sz="1400" dirty="0">
                <a:latin typeface="Speactral"/>
              </a:rPr>
              <a:t>DeepTeam EU AI Act module operationalises the two highest-impact risk tiers, Article 5 prohibited practices (unacceptable risk) and Annex III high-risk AI systems, so you can red-team your AI system against the obligations regulators actually check.</a:t>
            </a:r>
          </a:p>
          <a:p>
            <a:r>
              <a:rPr lang="en-IN" sz="1400" b="1" dirty="0">
                <a:latin typeface="Speactral"/>
              </a:rPr>
              <a:t>BeaverTails: </a:t>
            </a:r>
            <a:r>
              <a:rPr lang="en-IN" sz="1400" dirty="0">
                <a:latin typeface="Speactral"/>
              </a:rPr>
              <a:t>The BeaverTails framework integrates the BeaverTails dataset, a large, human-</a:t>
            </a:r>
            <a:r>
              <a:rPr lang="en-IN" sz="1400" dirty="0" err="1">
                <a:latin typeface="Speactral"/>
              </a:rPr>
              <a:t>labeled</a:t>
            </a:r>
            <a:r>
              <a:rPr lang="en-IN" sz="1400" dirty="0">
                <a:latin typeface="Speactral"/>
              </a:rPr>
              <a:t> collection of harmful and borderline prompts so DeepTeam can run dataset-driven red teaming against real-world adversarial inputs. </a:t>
            </a:r>
          </a:p>
          <a:p>
            <a:r>
              <a:rPr lang="en-IN" sz="1400" b="1" dirty="0">
                <a:latin typeface="Speactral"/>
              </a:rPr>
              <a:t>Aegis: </a:t>
            </a:r>
            <a:r>
              <a:rPr lang="en-IN" sz="1400" dirty="0">
                <a:latin typeface="Speactral"/>
              </a:rPr>
              <a:t>The Aegis framework integrates the NVIDIA Aegis AI Content Safety Dataset, an open-source dataset aligned with NVIDIA’s Content Safety Taxonomy across 13 critical harm categories.</a:t>
            </a:r>
          </a:p>
          <a:p>
            <a:endParaRPr lang="en-IN" sz="1400" dirty="0">
              <a:latin typeface="Speactral"/>
            </a:endParaRPr>
          </a:p>
          <a:p>
            <a:endParaRPr lang="en-IN" sz="1400" dirty="0">
              <a:latin typeface="Speactral"/>
            </a:endParaRPr>
          </a:p>
          <a:p>
            <a:endParaRPr lang="en-IN" sz="1400" dirty="0">
              <a:latin typeface="Speactral"/>
            </a:endParaRPr>
          </a:p>
        </p:txBody>
      </p:sp>
    </p:spTree>
    <p:extLst>
      <p:ext uri="{BB962C8B-B14F-4D97-AF65-F5344CB8AC3E}">
        <p14:creationId xmlns:p14="http://schemas.microsoft.com/office/powerpoint/2010/main" val="2837969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1DDD-4A35-B32D-85AD-F58208241C6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29B158C-5E49-4970-74FA-C6499978FBDD}"/>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72E7AA33-FB80-46AC-7BC7-52A0374EC3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6982612A-F89A-68E8-D294-D334346C62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921FF50F-6BF3-E3EF-C7D2-70D6A220803E}"/>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OWASP Top 10 for LLMs 2025</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109C87C9-9512-0134-784B-8F5714A21B74}"/>
              </a:ext>
            </a:extLst>
          </p:cNvPr>
          <p:cNvSpPr txBox="1">
            <a:spLocks/>
          </p:cNvSpPr>
          <p:nvPr/>
        </p:nvSpPr>
        <p:spPr>
          <a:xfrm>
            <a:off x="620647" y="1078420"/>
            <a:ext cx="6447665" cy="54874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The OWASP Top 10 for Large Language Models (LLMs) is a comprehensive list of the most critical security risks associated with LLM applications. This resource is designed to help developers, security professionals, and organizations identify, understand, and mitigate vulnerabilities in these systems, ensuring safer and more robust deployments in real-world applications.</a:t>
            </a:r>
          </a:p>
          <a:p>
            <a:pPr marL="0" indent="0">
              <a:buNone/>
            </a:pPr>
            <a:r>
              <a:rPr lang="en-IN" sz="1400" dirty="0">
                <a:latin typeface="Speactral"/>
              </a:rPr>
              <a:t>The 2025 edition reflects significant evolution in the LLM threat landscape, with new risks emerging from RAG systems, autonomous AI agents, and sophisticated attack methods.</a:t>
            </a:r>
          </a:p>
          <a:p>
            <a:pPr marL="0" indent="0">
              <a:buNone/>
            </a:pPr>
            <a:endParaRPr lang="en-IN" sz="400" dirty="0">
              <a:latin typeface="Speactral"/>
            </a:endParaRPr>
          </a:p>
          <a:p>
            <a:pPr marL="0" indent="0">
              <a:buNone/>
            </a:pPr>
            <a:r>
              <a:rPr lang="en-IN" sz="1400" dirty="0">
                <a:latin typeface="Speactral"/>
              </a:rPr>
              <a:t>The OWASP Top 10 2025 Risks List</a:t>
            </a:r>
          </a:p>
          <a:p>
            <a:pPr marL="0" indent="0">
              <a:buNone/>
            </a:pPr>
            <a:endParaRPr lang="en-IN" sz="400" dirty="0">
              <a:latin typeface="Speactral"/>
            </a:endParaRPr>
          </a:p>
          <a:p>
            <a:pPr lvl="0"/>
            <a:r>
              <a:rPr lang="en-IN" sz="1400" b="1" dirty="0">
                <a:latin typeface="Speactral"/>
              </a:rPr>
              <a:t>Prompt Injection</a:t>
            </a:r>
          </a:p>
          <a:p>
            <a:pPr lvl="0"/>
            <a:r>
              <a:rPr lang="en-IN" sz="1400" b="1" dirty="0">
                <a:latin typeface="Speactral"/>
              </a:rPr>
              <a:t>Sensitive Information Disclosure</a:t>
            </a:r>
          </a:p>
          <a:p>
            <a:pPr lvl="0"/>
            <a:r>
              <a:rPr lang="en-IN" sz="1400" b="1" dirty="0">
                <a:latin typeface="Speactral"/>
              </a:rPr>
              <a:t>Supply Chain</a:t>
            </a:r>
          </a:p>
          <a:p>
            <a:pPr lvl="0"/>
            <a:r>
              <a:rPr lang="en-IN" sz="1400" b="1" dirty="0">
                <a:latin typeface="Speactral"/>
              </a:rPr>
              <a:t>Data and Model Poisoning</a:t>
            </a:r>
          </a:p>
          <a:p>
            <a:pPr lvl="0"/>
            <a:r>
              <a:rPr lang="en-IN" sz="1400" b="1" dirty="0">
                <a:latin typeface="Speactral"/>
              </a:rPr>
              <a:t>Improper Output Handling </a:t>
            </a:r>
          </a:p>
          <a:p>
            <a:pPr lvl="0"/>
            <a:r>
              <a:rPr lang="en-IN" sz="1400" b="1" dirty="0">
                <a:latin typeface="Speactral"/>
              </a:rPr>
              <a:t>Excessive Agency </a:t>
            </a:r>
          </a:p>
          <a:p>
            <a:pPr lvl="0"/>
            <a:r>
              <a:rPr lang="en-IN" sz="1400" b="1" dirty="0">
                <a:latin typeface="Speactral"/>
              </a:rPr>
              <a:t>System Prompt Leakage</a:t>
            </a:r>
          </a:p>
          <a:p>
            <a:pPr lvl="0"/>
            <a:r>
              <a:rPr lang="en-IN" sz="1400" b="1" dirty="0">
                <a:latin typeface="Speactral"/>
              </a:rPr>
              <a:t>Vector and Embedding Weaknesses </a:t>
            </a:r>
          </a:p>
          <a:p>
            <a:pPr lvl="0"/>
            <a:r>
              <a:rPr lang="en-IN" sz="1400" b="1" dirty="0">
                <a:latin typeface="Speactral"/>
              </a:rPr>
              <a:t>Misinformation </a:t>
            </a:r>
          </a:p>
          <a:p>
            <a:pPr lvl="0"/>
            <a:r>
              <a:rPr lang="en-IN" sz="1400" b="1" dirty="0">
                <a:latin typeface="Speactral"/>
              </a:rPr>
              <a:t>Unbounded Consumption </a:t>
            </a:r>
          </a:p>
          <a:p>
            <a:endParaRPr lang="en-IN" sz="1400" dirty="0">
              <a:latin typeface="Speactral"/>
            </a:endParaRPr>
          </a:p>
        </p:txBody>
      </p:sp>
      <p:pic>
        <p:nvPicPr>
          <p:cNvPr id="6" name="Picture 5">
            <a:extLst>
              <a:ext uri="{FF2B5EF4-FFF2-40B4-BE49-F238E27FC236}">
                <a16:creationId xmlns:a16="http://schemas.microsoft.com/office/drawing/2014/main" id="{5C97BD63-1207-52CD-01D0-601000ECC4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2458" y="3009933"/>
            <a:ext cx="7586078" cy="3491452"/>
          </a:xfrm>
          <a:prstGeom prst="rect">
            <a:avLst/>
          </a:prstGeom>
          <a:ln>
            <a:noFill/>
          </a:ln>
          <a:effectLst>
            <a:softEdge rad="112500"/>
          </a:effectLst>
        </p:spPr>
      </p:pic>
    </p:spTree>
    <p:extLst>
      <p:ext uri="{BB962C8B-B14F-4D97-AF65-F5344CB8AC3E}">
        <p14:creationId xmlns:p14="http://schemas.microsoft.com/office/powerpoint/2010/main" val="117999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115EE-A1CF-C06C-4B60-6028D21F6455}"/>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BF049DD-DE3C-53CE-E81B-769E92FC76E5}"/>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1C15AAA5-24DD-311E-BFC2-A65ED37DE4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5D0FAFF9-3C4B-CE44-F788-2F3B39796E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ED05E25A-A6D4-8065-929A-48B5EFB4E1AB}"/>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OWASP Top 10 for Agents 2026</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5B70E30D-419F-447D-7896-79316807E4B6}"/>
              </a:ext>
            </a:extLst>
          </p:cNvPr>
          <p:cNvSpPr txBox="1">
            <a:spLocks/>
          </p:cNvSpPr>
          <p:nvPr/>
        </p:nvSpPr>
        <p:spPr>
          <a:xfrm>
            <a:off x="620647" y="1078420"/>
            <a:ext cx="6447665" cy="5669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The OWASP Top 10 for Agentic Applications (ASI) identifies the most critical security risks introduced by autonomous and semi-autonomous AI agents. Unlike traditional LLM applications, agentic systems combine reasoning, memory, tools, and multi-step execution, introducing new classes of vulnerabilities that extend beyond prompt-level attacks.</a:t>
            </a:r>
          </a:p>
          <a:p>
            <a:pPr marL="0" indent="0">
              <a:buNone/>
            </a:pPr>
            <a:r>
              <a:rPr lang="en-IN" sz="1400" dirty="0">
                <a:latin typeface="Speactral"/>
              </a:rPr>
              <a:t>The 2026 edition focuses on failures arising from goal misalignment, tool misuse, delegated trust, inter-agent communication, persistent memory, and emergent autonomous behaviour.</a:t>
            </a:r>
          </a:p>
          <a:p>
            <a:pPr marL="0" indent="0">
              <a:buNone/>
            </a:pPr>
            <a:endParaRPr lang="en-IN" sz="400" dirty="0">
              <a:latin typeface="Speactral"/>
            </a:endParaRPr>
          </a:p>
          <a:p>
            <a:pPr marL="0" indent="0">
              <a:buNone/>
            </a:pPr>
            <a:r>
              <a:rPr lang="en-IN" sz="1400" dirty="0">
                <a:latin typeface="Speactral"/>
              </a:rPr>
              <a:t>The OWASP ASI Top 10 2026 Risks List</a:t>
            </a:r>
          </a:p>
          <a:p>
            <a:pPr marL="0" indent="0">
              <a:buNone/>
            </a:pPr>
            <a:endParaRPr lang="en-IN" sz="400" dirty="0">
              <a:latin typeface="Speactral"/>
            </a:endParaRPr>
          </a:p>
          <a:p>
            <a:pPr lvl="0"/>
            <a:r>
              <a:rPr lang="en-IN" sz="1400" b="1" dirty="0">
                <a:latin typeface="Speactral"/>
              </a:rPr>
              <a:t>Agent Goal Hijack</a:t>
            </a:r>
          </a:p>
          <a:p>
            <a:pPr lvl="0"/>
            <a:r>
              <a:rPr lang="en-IN" sz="1400" b="1" dirty="0">
                <a:latin typeface="Speactral"/>
              </a:rPr>
              <a:t>Tool Misuse &amp; Exploitation</a:t>
            </a:r>
          </a:p>
          <a:p>
            <a:pPr lvl="0"/>
            <a:r>
              <a:rPr lang="en-IN" sz="1400" b="1" dirty="0">
                <a:latin typeface="Speactral"/>
              </a:rPr>
              <a:t>Agent Identity &amp; Privilege Abuse</a:t>
            </a:r>
          </a:p>
          <a:p>
            <a:pPr lvl="0"/>
            <a:r>
              <a:rPr lang="en-IN" sz="1400" b="1" dirty="0">
                <a:latin typeface="Speactral"/>
              </a:rPr>
              <a:t>Agentic Supply Chain Compromise</a:t>
            </a:r>
          </a:p>
          <a:p>
            <a:pPr lvl="0"/>
            <a:r>
              <a:rPr lang="en-IN" sz="1400" b="1" dirty="0">
                <a:latin typeface="Speactral"/>
              </a:rPr>
              <a:t>Unexpected Code Execution</a:t>
            </a:r>
          </a:p>
          <a:p>
            <a:pPr lvl="0"/>
            <a:r>
              <a:rPr lang="en-IN" sz="1400" b="1" dirty="0">
                <a:latin typeface="Speactral"/>
              </a:rPr>
              <a:t>Memory &amp; Context Poisoning</a:t>
            </a:r>
          </a:p>
          <a:p>
            <a:pPr lvl="0"/>
            <a:r>
              <a:rPr lang="en-IN" sz="1400" b="1" dirty="0">
                <a:latin typeface="Speactral"/>
              </a:rPr>
              <a:t>Insecure Inter-Agent Communication</a:t>
            </a:r>
          </a:p>
          <a:p>
            <a:pPr lvl="0"/>
            <a:r>
              <a:rPr lang="en-IN" sz="1400" b="1" dirty="0">
                <a:latin typeface="Speactral"/>
              </a:rPr>
              <a:t>Cascading Agent Failures</a:t>
            </a:r>
          </a:p>
          <a:p>
            <a:pPr lvl="0"/>
            <a:r>
              <a:rPr lang="en-IN" sz="1400" b="1" dirty="0">
                <a:latin typeface="Speactral"/>
              </a:rPr>
              <a:t>Human-Agent Trust Exploitation</a:t>
            </a:r>
          </a:p>
          <a:p>
            <a:pPr lvl="0"/>
            <a:r>
              <a:rPr lang="en-IN" sz="1400" b="1" dirty="0">
                <a:latin typeface="Speactral"/>
              </a:rPr>
              <a:t>Rogue Agents</a:t>
            </a:r>
          </a:p>
          <a:p>
            <a:endParaRPr lang="en-IN" sz="1400" dirty="0">
              <a:latin typeface="Speactral"/>
            </a:endParaRPr>
          </a:p>
        </p:txBody>
      </p:sp>
      <p:pic>
        <p:nvPicPr>
          <p:cNvPr id="3" name="Picture 2">
            <a:extLst>
              <a:ext uri="{FF2B5EF4-FFF2-40B4-BE49-F238E27FC236}">
                <a16:creationId xmlns:a16="http://schemas.microsoft.com/office/drawing/2014/main" id="{656F7650-D8E0-55B7-9380-D601BA141C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0171" y="3044551"/>
            <a:ext cx="7651044" cy="3521353"/>
          </a:xfrm>
          <a:prstGeom prst="rect">
            <a:avLst/>
          </a:prstGeom>
          <a:ln>
            <a:noFill/>
          </a:ln>
          <a:effectLst>
            <a:softEdge rad="112500"/>
          </a:effectLst>
        </p:spPr>
      </p:pic>
    </p:spTree>
    <p:extLst>
      <p:ext uri="{BB962C8B-B14F-4D97-AF65-F5344CB8AC3E}">
        <p14:creationId xmlns:p14="http://schemas.microsoft.com/office/powerpoint/2010/main" val="2462993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C0704-D49A-4208-62E1-45D19FFDE33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0034F0F-6A50-3E73-8F0D-1117AA09AD83}"/>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179C3A5E-ECF2-64A9-ECE9-4331CEBBE0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059C9EFE-7522-0CA3-8E88-454EA87689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76767AC3-85CD-8C64-60E6-4E7912B13921}"/>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Guardrails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8A3020AC-3479-7EDB-D729-17C814564BB8}"/>
              </a:ext>
            </a:extLst>
          </p:cNvPr>
          <p:cNvSpPr txBox="1">
            <a:spLocks/>
          </p:cNvSpPr>
          <p:nvPr/>
        </p:nvSpPr>
        <p:spPr>
          <a:xfrm>
            <a:off x="620647" y="1078420"/>
            <a:ext cx="11357993" cy="5669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DeepTeam enables anyone to safeguard LLM applications against vulnerable inputs and</a:t>
            </a:r>
            <a:br>
              <a:rPr lang="en-IN" sz="1400" dirty="0">
                <a:latin typeface="Speactral"/>
              </a:rPr>
            </a:br>
            <a:r>
              <a:rPr lang="en-IN" sz="1400" dirty="0">
                <a:latin typeface="Speactral"/>
              </a:rPr>
              <a:t>outputs uncovered during red teaming.</a:t>
            </a:r>
          </a:p>
          <a:p>
            <a:pPr marL="0" indent="0">
              <a:buNone/>
            </a:pPr>
            <a:endParaRPr lang="en-IN" sz="400" dirty="0">
              <a:latin typeface="Speactral"/>
            </a:endParaRPr>
          </a:p>
          <a:p>
            <a:pPr marL="0" indent="0">
              <a:buNone/>
            </a:pPr>
            <a:r>
              <a:rPr lang="en-IN" sz="1400" dirty="0">
                <a:latin typeface="Speactral"/>
              </a:rPr>
              <a:t>There are two types of guardrails:</a:t>
            </a:r>
          </a:p>
          <a:p>
            <a:pPr marL="0" indent="0">
              <a:buNone/>
            </a:pPr>
            <a:endParaRPr lang="en-IN" sz="400" dirty="0">
              <a:latin typeface="Speactral"/>
            </a:endParaRPr>
          </a:p>
          <a:p>
            <a:pPr lvl="0"/>
            <a:r>
              <a:rPr lang="en-IN" sz="1400" b="1" dirty="0">
                <a:latin typeface="Speactral"/>
              </a:rPr>
              <a:t>Input guardrails: </a:t>
            </a:r>
            <a:r>
              <a:rPr lang="en-IN" sz="1400" dirty="0">
                <a:latin typeface="Speactral"/>
              </a:rPr>
              <a:t>Protects against malicious inputs before they reach your LLM</a:t>
            </a:r>
          </a:p>
          <a:p>
            <a:pPr lvl="0"/>
            <a:r>
              <a:rPr lang="en-IN" sz="1400" b="1" dirty="0">
                <a:latin typeface="Speactral"/>
              </a:rPr>
              <a:t>Output guardrails: </a:t>
            </a:r>
            <a:r>
              <a:rPr lang="en-IN" sz="1400" dirty="0">
                <a:latin typeface="Speactral"/>
              </a:rPr>
              <a:t>Evaluates an LLM's output before it reaches your users.</a:t>
            </a:r>
          </a:p>
          <a:p>
            <a:pPr lvl="0"/>
            <a:endParaRPr lang="en-IN" sz="400" dirty="0">
              <a:latin typeface="Speactral"/>
            </a:endParaRPr>
          </a:p>
          <a:p>
            <a:pPr marL="0" indent="0">
              <a:buNone/>
            </a:pPr>
            <a:r>
              <a:rPr lang="en-IN" sz="1400" dirty="0">
                <a:latin typeface="Speactral"/>
              </a:rPr>
              <a:t>An input/output guardrail is composed of one or more guards, and an input/output should only be let in/out if all guards have passed the checks. Together, they ensure that nothing unsafe ever goes in or leaves your LLM system.</a:t>
            </a:r>
          </a:p>
          <a:p>
            <a:pPr marL="0" indent="0">
              <a:buNone/>
            </a:pPr>
            <a:r>
              <a:rPr lang="en-IN" sz="1400" dirty="0">
                <a:latin typeface="Speactral"/>
              </a:rPr>
              <a:t>The number of guards you choose to set up and whether you decide to utilize both types of guards depends on your priorities regarding latency, cost, and LLM safety.</a:t>
            </a:r>
          </a:p>
        </p:txBody>
      </p:sp>
      <p:pic>
        <p:nvPicPr>
          <p:cNvPr id="2" name="Graphic 1" descr="Datasets 1">
            <a:extLst>
              <a:ext uri="{FF2B5EF4-FFF2-40B4-BE49-F238E27FC236}">
                <a16:creationId xmlns:a16="http://schemas.microsoft.com/office/drawing/2014/main" id="{AA0705FA-14DF-C589-3864-779542E239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41779" y="4130684"/>
            <a:ext cx="7290816" cy="2517004"/>
          </a:xfrm>
          <a:prstGeom prst="rect">
            <a:avLst/>
          </a:prstGeom>
        </p:spPr>
      </p:pic>
      <p:pic>
        <p:nvPicPr>
          <p:cNvPr id="6" name="Picture 5">
            <a:extLst>
              <a:ext uri="{FF2B5EF4-FFF2-40B4-BE49-F238E27FC236}">
                <a16:creationId xmlns:a16="http://schemas.microsoft.com/office/drawing/2014/main" id="{F8C5B8D4-46B0-8797-922F-1359F6D856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36957" y="465611"/>
            <a:ext cx="4614186" cy="2391757"/>
          </a:xfrm>
          <a:prstGeom prst="rect">
            <a:avLst/>
          </a:prstGeom>
          <a:ln>
            <a:noFill/>
          </a:ln>
          <a:effectLst>
            <a:softEdge rad="112500"/>
          </a:effectLst>
        </p:spPr>
      </p:pic>
    </p:spTree>
    <p:extLst>
      <p:ext uri="{BB962C8B-B14F-4D97-AF65-F5344CB8AC3E}">
        <p14:creationId xmlns:p14="http://schemas.microsoft.com/office/powerpoint/2010/main" val="651597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7A188-6C55-DC17-E11C-66F9A68068E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A9D1B85D-CEA7-2C85-11A8-B144BE83A1E4}"/>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27B88FCA-71F7-7732-CBCC-742EF46482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50EF9B88-408B-EF77-DD52-DDCDA05B48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3BBDDA45-D97A-1723-E5FB-9A805CBD6FD4}"/>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a:latin typeface="Speactral"/>
              </a:rPr>
              <a:t>Guard Types</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BCFA4DFA-3224-FB64-C4E8-D7F89B108E6E}"/>
              </a:ext>
            </a:extLst>
          </p:cNvPr>
          <p:cNvSpPr txBox="1">
            <a:spLocks/>
          </p:cNvSpPr>
          <p:nvPr/>
        </p:nvSpPr>
        <p:spPr>
          <a:xfrm>
            <a:off x="565782" y="1453324"/>
            <a:ext cx="11211689" cy="54046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400" b="1" dirty="0">
                <a:latin typeface="Speactral"/>
              </a:rPr>
              <a:t>Prompt Injection Guard: </a:t>
            </a:r>
            <a:r>
              <a:rPr lang="en-IN" sz="1400" dirty="0">
                <a:latin typeface="Speactral"/>
              </a:rPr>
              <a:t>The prompt injection guard is an input guard that uses LLM-as-a-judge to determine whether an LLM system input contains a prompt injection attack and flags it as unsafe if it does.</a:t>
            </a:r>
          </a:p>
          <a:p>
            <a:endParaRPr lang="en-IN" sz="400" dirty="0">
              <a:latin typeface="Speactral"/>
            </a:endParaRPr>
          </a:p>
          <a:p>
            <a:r>
              <a:rPr lang="en-IN" sz="1400" b="1" dirty="0">
                <a:latin typeface="Speactral"/>
              </a:rPr>
              <a:t>Topical Guard: </a:t>
            </a:r>
            <a:r>
              <a:rPr lang="en-IN" sz="1400" dirty="0">
                <a:latin typeface="Speactral"/>
              </a:rPr>
              <a:t>The topical guard is an input guard that uses LLM-as-a-judge to determine whether an LLM system input stays within allowed topics and doesn't venture into inappropriate or off-topic areas, and flags it as unsafe if it does.</a:t>
            </a:r>
          </a:p>
          <a:p>
            <a:endParaRPr lang="en-IN" sz="400" dirty="0">
              <a:latin typeface="Speactral"/>
            </a:endParaRPr>
          </a:p>
          <a:p>
            <a:r>
              <a:rPr lang="en-IN" sz="1400" b="1" dirty="0">
                <a:latin typeface="Speactral"/>
              </a:rPr>
              <a:t>Toxicity Guard: </a:t>
            </a:r>
            <a:r>
              <a:rPr lang="en-IN" sz="1400" dirty="0">
                <a:latin typeface="Speactral"/>
              </a:rPr>
              <a:t>The toxicity guard is an output guard that uses LLM-as-a-judge to determine whether an LLM system output contains toxic language and flags it as unsafe if it does.</a:t>
            </a:r>
          </a:p>
          <a:p>
            <a:endParaRPr lang="en-IN" sz="400" dirty="0">
              <a:latin typeface="Speactral"/>
            </a:endParaRPr>
          </a:p>
          <a:p>
            <a:r>
              <a:rPr lang="en-IN" sz="1400" b="1" dirty="0">
                <a:latin typeface="Speactral"/>
              </a:rPr>
              <a:t>Privacy Guard: </a:t>
            </a:r>
            <a:r>
              <a:rPr lang="en-IN" sz="1400" dirty="0">
                <a:latin typeface="Speactral"/>
              </a:rPr>
              <a:t>The privacy guard is an output guard that uses LLM-as-a-judge to determine whether an LLM system output contains personally identifiable information (PII) or sensitive data and flags it as unsafe if it does.</a:t>
            </a:r>
          </a:p>
          <a:p>
            <a:endParaRPr lang="en-IN" sz="400" dirty="0">
              <a:latin typeface="Speactral"/>
            </a:endParaRPr>
          </a:p>
          <a:p>
            <a:r>
              <a:rPr lang="en-IN" sz="1400" b="1" dirty="0">
                <a:latin typeface="Speactral"/>
              </a:rPr>
              <a:t>Illegal Guard: </a:t>
            </a:r>
            <a:r>
              <a:rPr lang="en-IN" sz="1400" dirty="0">
                <a:latin typeface="Speactral"/>
              </a:rPr>
              <a:t>The illegal guard is an output guard that uses LLM-as-a-judge to determine whether an LLM system output provides information that could facilitate illegal activities and flags it as unsafe if it does.</a:t>
            </a:r>
          </a:p>
          <a:p>
            <a:endParaRPr lang="en-IN" sz="400" dirty="0">
              <a:latin typeface="Speactral"/>
            </a:endParaRPr>
          </a:p>
          <a:p>
            <a:r>
              <a:rPr lang="en-IN" sz="1400" b="1" dirty="0">
                <a:latin typeface="Speactral"/>
              </a:rPr>
              <a:t>Hallucination Guard: </a:t>
            </a:r>
            <a:r>
              <a:rPr lang="en-IN" sz="1400" dirty="0">
                <a:latin typeface="Speactral"/>
              </a:rPr>
              <a:t>The hallucination guard is an output guard that uses LLM-as-a-judge to determine whether an LLM system output contains false information, incorrect facts, or misleading claims and flags it as unsafe if it does.</a:t>
            </a:r>
          </a:p>
          <a:p>
            <a:endParaRPr lang="en-IN" sz="400" dirty="0">
              <a:latin typeface="Speactral"/>
            </a:endParaRPr>
          </a:p>
          <a:p>
            <a:r>
              <a:rPr lang="en-IN" sz="1400" b="1" dirty="0">
                <a:latin typeface="Speactral"/>
              </a:rPr>
              <a:t>Cybersecurity Guard: </a:t>
            </a:r>
            <a:r>
              <a:rPr lang="en-IN" sz="1400" dirty="0">
                <a:latin typeface="Speactral"/>
              </a:rPr>
              <a:t>The cybersecurity guard is an input/output guard that uses LLM-as-a-judge to determine whether an LLM system input or output contains cybersecurity attacks or malicious content and flags it as unsafe if it does.</a:t>
            </a:r>
          </a:p>
          <a:p>
            <a:endParaRPr lang="en-IN" sz="1400" dirty="0">
              <a:latin typeface="Speactral"/>
            </a:endParaRPr>
          </a:p>
          <a:p>
            <a:endParaRPr lang="en-IN" sz="1400" dirty="0">
              <a:latin typeface="Speactral"/>
            </a:endParaRPr>
          </a:p>
        </p:txBody>
      </p:sp>
    </p:spTree>
    <p:extLst>
      <p:ext uri="{BB962C8B-B14F-4D97-AF65-F5344CB8AC3E}">
        <p14:creationId xmlns:p14="http://schemas.microsoft.com/office/powerpoint/2010/main" val="3225596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CCA25-ABC0-2BFA-4C92-D2D1A2661655}"/>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3C7C456-C77B-8C20-8309-97936EFB20D4}"/>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91BE24C8-7DB6-24A0-7FAB-848B792745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2A601077-4C05-FFC0-9C4F-EDF8E89AC2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550" y="0"/>
              <a:ext cx="6858000" cy="6858000"/>
            </a:xfrm>
            <a:prstGeom prst="rect">
              <a:avLst/>
            </a:prstGeom>
          </p:spPr>
        </p:pic>
      </p:grpSp>
      <p:sp>
        <p:nvSpPr>
          <p:cNvPr id="10" name="Title 4">
            <a:extLst>
              <a:ext uri="{FF2B5EF4-FFF2-40B4-BE49-F238E27FC236}">
                <a16:creationId xmlns:a16="http://schemas.microsoft.com/office/drawing/2014/main" id="{5265064D-700E-C589-D7DB-7EA05F739533}"/>
              </a:ext>
            </a:extLst>
          </p:cNvPr>
          <p:cNvSpPr txBox="1">
            <a:spLocks/>
          </p:cNvSpPr>
          <p:nvPr/>
        </p:nvSpPr>
        <p:spPr>
          <a:xfrm>
            <a:off x="536733" y="292096"/>
            <a:ext cx="8708868" cy="63144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latin typeface="Speactral"/>
              </a:rPr>
              <a:t>Code Scanning</a:t>
            </a:r>
            <a:endParaRPr lang="en-US" sz="4000" b="1" dirty="0">
              <a:solidFill>
                <a:schemeClr val="bg2">
                  <a:lumMod val="75000"/>
                </a:schemeClr>
              </a:solidFill>
              <a:latin typeface="Speactral"/>
            </a:endParaRPr>
          </a:p>
        </p:txBody>
      </p:sp>
      <p:sp>
        <p:nvSpPr>
          <p:cNvPr id="11" name="Text Placeholder 19">
            <a:extLst>
              <a:ext uri="{FF2B5EF4-FFF2-40B4-BE49-F238E27FC236}">
                <a16:creationId xmlns:a16="http://schemas.microsoft.com/office/drawing/2014/main" id="{43AC9686-1B89-F0B9-4593-5C8B762A7832}"/>
              </a:ext>
            </a:extLst>
          </p:cNvPr>
          <p:cNvSpPr txBox="1">
            <a:spLocks/>
          </p:cNvSpPr>
          <p:nvPr/>
        </p:nvSpPr>
        <p:spPr>
          <a:xfrm>
            <a:off x="620647" y="1142488"/>
            <a:ext cx="3649601" cy="50663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latin typeface="Speactral"/>
              </a:rPr>
              <a:t>DeepTeam offers a powerful way to statically scan your source code for AI application security vulnerabilities. Instead of attacking a running system as red teaming does, code scanning reads your source files and flags risky constructs such as eval or exec on LLM output, prompt injection sinks, SSRF, and excessive agency.</a:t>
            </a:r>
          </a:p>
          <a:p>
            <a:pPr marL="0" indent="0">
              <a:buNone/>
            </a:pPr>
            <a:endParaRPr lang="en-IN" sz="1400" dirty="0">
              <a:latin typeface="Speactral"/>
            </a:endParaRPr>
          </a:p>
          <a:p>
            <a:pPr marL="0" indent="0">
              <a:buNone/>
            </a:pPr>
            <a:r>
              <a:rPr lang="en-IN" sz="1400" dirty="0">
                <a:latin typeface="Speactral"/>
              </a:rPr>
              <a:t>Code scanning can be run in 4 different ways:</a:t>
            </a:r>
          </a:p>
          <a:p>
            <a:pPr marL="0" indent="0">
              <a:buNone/>
            </a:pPr>
            <a:endParaRPr lang="en-IN" sz="1400" dirty="0">
              <a:latin typeface="Speactral"/>
            </a:endParaRPr>
          </a:p>
          <a:p>
            <a:pPr lvl="0">
              <a:buFont typeface="Wingdings" panose="05000000000000000000" pitchFamily="2" charset="2"/>
              <a:buChar char="§"/>
            </a:pPr>
            <a:r>
              <a:rPr lang="en-IN" sz="1400" b="1" dirty="0">
                <a:latin typeface="Speactral"/>
              </a:rPr>
              <a:t>Command Line: </a:t>
            </a:r>
            <a:r>
              <a:rPr lang="en-IN" sz="1400" dirty="0">
                <a:latin typeface="Speactral"/>
              </a:rPr>
              <a:t>scan a file, directory, or git diff from the CLI.</a:t>
            </a:r>
          </a:p>
          <a:p>
            <a:pPr lvl="0">
              <a:buFont typeface="Wingdings" panose="05000000000000000000" pitchFamily="2" charset="2"/>
              <a:buChar char="§"/>
            </a:pPr>
            <a:r>
              <a:rPr lang="en-IN" sz="1400" b="1" dirty="0">
                <a:latin typeface="Speactral"/>
              </a:rPr>
              <a:t>Configuration File: </a:t>
            </a:r>
            <a:r>
              <a:rPr lang="en-IN" sz="1400" dirty="0">
                <a:latin typeface="Speactral"/>
              </a:rPr>
              <a:t>declare your scan settings in .</a:t>
            </a:r>
            <a:r>
              <a:rPr lang="en-IN" sz="1400" dirty="0" err="1">
                <a:latin typeface="Speactral"/>
              </a:rPr>
              <a:t>deepteam</a:t>
            </a:r>
            <a:r>
              <a:rPr lang="en-IN" sz="1400" dirty="0">
                <a:latin typeface="Speactral"/>
              </a:rPr>
              <a:t>-code-</a:t>
            </a:r>
            <a:r>
              <a:rPr lang="en-IN" sz="1400" dirty="0" err="1">
                <a:latin typeface="Speactral"/>
              </a:rPr>
              <a:t>scan.yaml</a:t>
            </a:r>
            <a:r>
              <a:rPr lang="en-IN" sz="1400" dirty="0">
                <a:latin typeface="Speactral"/>
              </a:rPr>
              <a:t>.</a:t>
            </a:r>
          </a:p>
          <a:p>
            <a:pPr lvl="0">
              <a:buFont typeface="Wingdings" panose="05000000000000000000" pitchFamily="2" charset="2"/>
              <a:buChar char="§"/>
            </a:pPr>
            <a:r>
              <a:rPr lang="en-IN" sz="1400" b="1" dirty="0">
                <a:latin typeface="Speactral"/>
              </a:rPr>
              <a:t>Python API: </a:t>
            </a:r>
            <a:r>
              <a:rPr lang="en-IN" sz="1400" dirty="0">
                <a:latin typeface="Speactral"/>
              </a:rPr>
              <a:t>run the scanner programmatically for full control.</a:t>
            </a:r>
          </a:p>
          <a:p>
            <a:pPr lvl="0">
              <a:buFont typeface="Wingdings" panose="05000000000000000000" pitchFamily="2" charset="2"/>
              <a:buChar char="§"/>
            </a:pPr>
            <a:r>
              <a:rPr lang="en-IN" sz="1400" b="1" dirty="0">
                <a:latin typeface="Speactral"/>
              </a:rPr>
              <a:t>GitHub Bot: </a:t>
            </a:r>
            <a:r>
              <a:rPr lang="en-IN" sz="1400" dirty="0">
                <a:latin typeface="Speactral"/>
              </a:rPr>
              <a:t>comment findings on every pull request as </a:t>
            </a:r>
            <a:r>
              <a:rPr lang="en-IN" sz="1400" dirty="0" err="1">
                <a:latin typeface="Speactral"/>
              </a:rPr>
              <a:t>deepteam</a:t>
            </a:r>
            <a:r>
              <a:rPr lang="en-IN" sz="1400" dirty="0">
                <a:latin typeface="Speactral"/>
              </a:rPr>
              <a:t>[bot].</a:t>
            </a:r>
          </a:p>
          <a:p>
            <a:pPr marL="0" indent="0">
              <a:buNone/>
            </a:pPr>
            <a:endParaRPr lang="en-IN" sz="1400" dirty="0">
              <a:latin typeface="Speactral"/>
            </a:endParaRPr>
          </a:p>
        </p:txBody>
      </p:sp>
      <p:pic>
        <p:nvPicPr>
          <p:cNvPr id="12" name="Picture 11">
            <a:extLst>
              <a:ext uri="{FF2B5EF4-FFF2-40B4-BE49-F238E27FC236}">
                <a16:creationId xmlns:a16="http://schemas.microsoft.com/office/drawing/2014/main" id="{98AB6BD7-5580-9BBE-B484-C9829DF57B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6022" y="1142488"/>
            <a:ext cx="7425972" cy="4855976"/>
          </a:xfrm>
          <a:prstGeom prst="rect">
            <a:avLst/>
          </a:prstGeom>
        </p:spPr>
      </p:pic>
    </p:spTree>
    <p:extLst>
      <p:ext uri="{BB962C8B-B14F-4D97-AF65-F5344CB8AC3E}">
        <p14:creationId xmlns:p14="http://schemas.microsoft.com/office/powerpoint/2010/main" val="2169327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C7130-65AA-4164-F525-47695129AEF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2D81546-7509-ABEB-B5ED-610BFA943439}"/>
              </a:ext>
            </a:extLst>
          </p:cNvPr>
          <p:cNvGrpSpPr/>
          <p:nvPr/>
        </p:nvGrpSpPr>
        <p:grpSpPr>
          <a:xfrm>
            <a:off x="-171450" y="0"/>
            <a:ext cx="12573000" cy="6858000"/>
            <a:chOff x="-171450" y="0"/>
            <a:chExt cx="12573000" cy="6858000"/>
          </a:xfrm>
          <a:solidFill>
            <a:srgbClr val="D2D2D2">
              <a:alpha val="78000"/>
            </a:srgbClr>
          </a:solidFill>
        </p:grpSpPr>
        <p:pic>
          <p:nvPicPr>
            <p:cNvPr id="5" name="Graphic 4" descr="Grid lines">
              <a:extLst>
                <a:ext uri="{FF2B5EF4-FFF2-40B4-BE49-F238E27FC236}">
                  <a16:creationId xmlns:a16="http://schemas.microsoft.com/office/drawing/2014/main" id="{547F3FA2-5514-08A6-8423-865695409A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1450" y="0"/>
              <a:ext cx="6858000" cy="6858000"/>
            </a:xfrm>
            <a:prstGeom prst="rect">
              <a:avLst/>
            </a:prstGeom>
          </p:spPr>
        </p:pic>
        <p:pic>
          <p:nvPicPr>
            <p:cNvPr id="7" name="Graphic 6" descr="Grid lines">
              <a:extLst>
                <a:ext uri="{FF2B5EF4-FFF2-40B4-BE49-F238E27FC236}">
                  <a16:creationId xmlns:a16="http://schemas.microsoft.com/office/drawing/2014/main" id="{6964BC90-A9A5-A1EB-B3A9-EA92E1EB74D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43550" y="0"/>
              <a:ext cx="6858000" cy="6858000"/>
            </a:xfrm>
            <a:prstGeom prst="rect">
              <a:avLst/>
            </a:prstGeom>
          </p:spPr>
        </p:pic>
      </p:grpSp>
      <p:pic>
        <p:nvPicPr>
          <p:cNvPr id="3" name="Picture 2">
            <a:extLst>
              <a:ext uri="{FF2B5EF4-FFF2-40B4-BE49-F238E27FC236}">
                <a16:creationId xmlns:a16="http://schemas.microsoft.com/office/drawing/2014/main" id="{7C350D42-80E8-6E9C-7F8A-B72B3C7A5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12630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2595</TotalTime>
  <Words>3124</Words>
  <Application>Microsoft Office PowerPoint</Application>
  <PresentationFormat>Widescreen</PresentationFormat>
  <Paragraphs>260</Paragraphs>
  <Slides>24</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Speactral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Das</dc:creator>
  <cp:lastModifiedBy>Arnab Das</cp:lastModifiedBy>
  <cp:revision>46</cp:revision>
  <dcterms:created xsi:type="dcterms:W3CDTF">2026-09-15T16:15:50Z</dcterms:created>
  <dcterms:modified xsi:type="dcterms:W3CDTF">2026-09-19T03:09:23Z</dcterms:modified>
</cp:coreProperties>
</file>